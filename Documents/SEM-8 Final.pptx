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9947275" cy="6858000"/>
  <p:embeddedFontLst>
    <p:embeddedFont>
      <p:font typeface="Libre Franklin"/>
      <p:regular r:id="rId39"/>
      <p:bold r:id="rId40"/>
      <p:italic r:id="rId41"/>
      <p:boldItalic r:id="rId42"/>
    </p:embeddedFont>
    <p:embeddedFont>
      <p:font typeface="Libre Baskerville"/>
      <p:regular r:id="rId43"/>
      <p:bold r:id="rId44"/>
      <p: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160">
          <p15:clr>
            <a:srgbClr val="A4A3A4"/>
          </p15:clr>
        </p15:guide>
        <p15:guide id="2" pos="31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C3033D-9189-46B2-BAFD-3FFF612F483C}">
  <a:tblStyle styleId="{8EC3033D-9189-46B2-BAFD-3FFF612F483C}" styleName="Table_0">
    <a:wholeTbl>
      <a:tcTxStyle b="off" i="off">
        <a:font>
          <a:latin typeface="Perpetua"/>
          <a:ea typeface="Perpetua"/>
          <a:cs typeface="Perpetu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160" orient="horz"/>
        <p:guide pos="3133"/>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bold.fntdata"/><Relationship Id="rId20" Type="http://schemas.openxmlformats.org/officeDocument/2006/relationships/slide" Target="slides/slide14.xml"/><Relationship Id="rId42" Type="http://schemas.openxmlformats.org/officeDocument/2006/relationships/font" Target="fonts/LibreFranklin-boldItalic.fntdata"/><Relationship Id="rId41" Type="http://schemas.openxmlformats.org/officeDocument/2006/relationships/font" Target="fonts/LibreFranklin-italic.fntdata"/><Relationship Id="rId22" Type="http://schemas.openxmlformats.org/officeDocument/2006/relationships/slide" Target="slides/slide16.xml"/><Relationship Id="rId44" Type="http://schemas.openxmlformats.org/officeDocument/2006/relationships/font" Target="fonts/LibreBaskerville-bold.fntdata"/><Relationship Id="rId21" Type="http://schemas.openxmlformats.org/officeDocument/2006/relationships/slide" Target="slides/slide15.xml"/><Relationship Id="rId43" Type="http://schemas.openxmlformats.org/officeDocument/2006/relationships/font" Target="fonts/LibreBaskerville-regular.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LibreBaskervill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LibreFranklin-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10486"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634487" y="0"/>
            <a:ext cx="4310486"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259138"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94728" y="3257550"/>
            <a:ext cx="795782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4310486"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634487" y="6513910"/>
            <a:ext cx="4310486"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259138"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994728" y="3257550"/>
            <a:ext cx="795782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1:notes"/>
          <p:cNvSpPr txBox="1"/>
          <p:nvPr>
            <p:ph idx="12" type="sldNum"/>
          </p:nvPr>
        </p:nvSpPr>
        <p:spPr>
          <a:xfrm>
            <a:off x="5634487" y="6513910"/>
            <a:ext cx="4310486"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p:nvPr>
            <p:ph idx="2" type="sldImg"/>
          </p:nvPr>
        </p:nvSpPr>
        <p:spPr>
          <a:xfrm>
            <a:off x="3259138"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994728" y="3257550"/>
            <a:ext cx="795782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template given should be strictly adhered to. </a:t>
            </a:r>
            <a:endParaRPr/>
          </a:p>
          <a:p>
            <a:pPr indent="0" lvl="0" marL="0" rtl="0" algn="l">
              <a:lnSpc>
                <a:spcPct val="100000"/>
              </a:lnSpc>
              <a:spcBef>
                <a:spcPts val="0"/>
              </a:spcBef>
              <a:spcAft>
                <a:spcPts val="0"/>
              </a:spcAft>
              <a:buSzPts val="1400"/>
              <a:buNone/>
            </a:pPr>
            <a:r>
              <a:rPr lang="en-US"/>
              <a:t>If for the sake of explanation the students wants to provide extra animation they are at the liberty to do so. </a:t>
            </a:r>
            <a:endParaRPr/>
          </a:p>
        </p:txBody>
      </p:sp>
      <p:sp>
        <p:nvSpPr>
          <p:cNvPr id="117" name="Google Shape;117;p2:notes"/>
          <p:cNvSpPr txBox="1"/>
          <p:nvPr>
            <p:ph idx="12" type="sldNum"/>
          </p:nvPr>
        </p:nvSpPr>
        <p:spPr>
          <a:xfrm>
            <a:off x="5634487" y="6513910"/>
            <a:ext cx="4310486"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3259138"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994728" y="3257550"/>
            <a:ext cx="795782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27" name="Google Shape;127;p3:notes"/>
          <p:cNvSpPr txBox="1"/>
          <p:nvPr>
            <p:ph idx="12" type="sldNum"/>
          </p:nvPr>
        </p:nvSpPr>
        <p:spPr>
          <a:xfrm>
            <a:off x="5634487" y="6513910"/>
            <a:ext cx="4310486"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0adcbe6f9_0_43: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50adcbe6f9_0_43: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37" name="Google Shape;137;g350adcbe6f9_0_43: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0adcbe6f9_0_52: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50adcbe6f9_0_52: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47" name="Google Shape;147;g350adcbe6f9_0_52: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0adcbe6f9_0_7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50adcbe6f9_0_7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57" name="Google Shape;157;g350adcbe6f9_0_7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0adcbe6f9_0_79: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50adcbe6f9_0_79: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67" name="Google Shape;167;g350adcbe6f9_0_79: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50adcbe6f9_0_88: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50adcbe6f9_0_88: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77" name="Google Shape;177;g350adcbe6f9_0_88: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0adcbe6f9_0_106: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50adcbe6f9_0_106: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87" name="Google Shape;187;g350adcbe6f9_0_106: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50adcbe6f9_0_115: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50adcbe6f9_0_115: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197" name="Google Shape;197;g350adcbe6f9_0_115: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0adcbe6f9_0_124: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50adcbe6f9_0_124: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07" name="Google Shape;207;g350adcbe6f9_0_124: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50adcbe6f9_0_133: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50adcbe6f9_0_133: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17" name="Google Shape;217;g350adcbe6f9_0_133: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50adcbe6f9_0_142: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50adcbe6f9_0_142: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27" name="Google Shape;227;g350adcbe6f9_0_142: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0adcbe6f9_0_151: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50adcbe6f9_0_151: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37" name="Google Shape;237;g350adcbe6f9_0_151: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50adcbe6f9_0_16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50adcbe6f9_0_16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47" name="Google Shape;247;g350adcbe6f9_0_16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0adcbe6f9_0_181: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50adcbe6f9_0_181: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58" name="Google Shape;258;g350adcbe6f9_0_181: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0adcbe6f9_0_211: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50adcbe6f9_0_211: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68" name="Google Shape;268;g350adcbe6f9_0_211: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50adcbe6f9_0_193: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50adcbe6f9_0_193: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78" name="Google Shape;278;g350adcbe6f9_0_193: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0adcbe6f9_0_23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50adcbe6f9_0_23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288" name="Google Shape;288;g350adcbe6f9_0_23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0adcbe6f9_0_242: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50adcbe6f9_0_242: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00" name="Google Shape;300;g350adcbe6f9_0_242: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0adcbe6f9_0_282: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50adcbe6f9_0_282: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10" name="Google Shape;310;g350adcbe6f9_0_282: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0adcbe6f9_0_291: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50adcbe6f9_0_291: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20" name="Google Shape;320;g350adcbe6f9_0_291: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0adcbe6f9_0_30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50adcbe6f9_0_30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30" name="Google Shape;330;g350adcbe6f9_0_30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50adcbe6f9_0_309: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50adcbe6f9_0_309: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40" name="Google Shape;340;g350adcbe6f9_0_309: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50adcbe6f9_0_333: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50adcbe6f9_0_333: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52" name="Google Shape;352;g350adcbe6f9_0_333: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0adcbe6f9_0_357: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50adcbe6f9_0_357: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64" name="Google Shape;364;g350adcbe6f9_0_357: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50adcbe6f9_0_32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50adcbe6f9_0_32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76" name="Google Shape;376;g350adcbe6f9_0_32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50adcbe6f9_0_371: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50adcbe6f9_0_371: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389" name="Google Shape;389;g350adcbe6f9_0_371: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0adcbe6f9_0_385: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50adcbe6f9_0_385: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402" name="Google Shape;402;g350adcbe6f9_0_385: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50adcbe6f9_0_422: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g350adcbe6f9_0_422: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415" name="Google Shape;415;g350adcbe6f9_0_422: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50adcbe6f9_0_440: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50adcbe6f9_0_440: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425" name="Google Shape;425;g350adcbe6f9_0_440: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0adcbe6f9_0_449:notes"/>
          <p:cNvSpPr/>
          <p:nvPr>
            <p:ph idx="2" type="sldImg"/>
          </p:nvPr>
        </p:nvSpPr>
        <p:spPr>
          <a:xfrm>
            <a:off x="3259138"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50adcbe6f9_0_449:notes"/>
          <p:cNvSpPr txBox="1"/>
          <p:nvPr>
            <p:ph idx="1" type="body"/>
          </p:nvPr>
        </p:nvSpPr>
        <p:spPr>
          <a:xfrm>
            <a:off x="994728" y="3257550"/>
            <a:ext cx="79578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about the domain area briefly</a:t>
            </a:r>
            <a:endParaRPr/>
          </a:p>
          <a:p>
            <a:pPr indent="0" lvl="0" marL="0" rtl="0" algn="l">
              <a:lnSpc>
                <a:spcPct val="100000"/>
              </a:lnSpc>
              <a:spcBef>
                <a:spcPts val="0"/>
              </a:spcBef>
              <a:spcAft>
                <a:spcPts val="0"/>
              </a:spcAft>
              <a:buSzPts val="1400"/>
              <a:buNone/>
            </a:pPr>
            <a:r>
              <a:rPr lang="en-US"/>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US"/>
              <a:t>The </a:t>
            </a:r>
            <a:endParaRPr/>
          </a:p>
        </p:txBody>
      </p:sp>
      <p:sp>
        <p:nvSpPr>
          <p:cNvPr id="435" name="Google Shape;435;g350adcbe6f9_0_449:notes"/>
          <p:cNvSpPr txBox="1"/>
          <p:nvPr>
            <p:ph idx="12" type="sldNum"/>
          </p:nvPr>
        </p:nvSpPr>
        <p:spPr>
          <a:xfrm>
            <a:off x="5634487" y="6513910"/>
            <a:ext cx="4310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lnSpc>
                <a:spcPct val="100000"/>
              </a:lnSpc>
              <a:spcBef>
                <a:spcPts val="0"/>
              </a:spcBef>
              <a:spcAft>
                <a:spcPts val="0"/>
              </a:spcAft>
              <a:buClr>
                <a:srgbClr val="FFFFFF"/>
              </a:buClr>
              <a:buSzPts val="4000"/>
              <a:buFont typeface="Libre Franklin"/>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34" name="Shape 34"/>
        <p:cNvGrpSpPr/>
        <p:nvPr/>
      </p:nvGrpSpPr>
      <p:grpSpPr>
        <a:xfrm>
          <a:off x="0" y="0"/>
          <a:ext cx="0" cy="0"/>
          <a:chOff x="0" y="0"/>
          <a:chExt cx="0" cy="0"/>
        </a:xfrm>
      </p:grpSpPr>
      <p:sp>
        <p:nvSpPr>
          <p:cNvPr id="35" name="Google Shape;35;p4"/>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36" name="Google Shape;36;p4"/>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37" name="Google Shape;37;p4"/>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2040"/>
              <a:buNone/>
              <a:defRPr sz="2400">
                <a:solidFill>
                  <a:srgbClr val="888888"/>
                </a:solidFill>
              </a:defRPr>
            </a:lvl1pPr>
            <a:lvl2pPr indent="-228600" lvl="1" marL="914400" algn="l">
              <a:lnSpc>
                <a:spcPct val="100000"/>
              </a:lnSpc>
              <a:spcBef>
                <a:spcPts val="370"/>
              </a:spcBef>
              <a:spcAft>
                <a:spcPts val="0"/>
              </a:spcAft>
              <a:buSzPts val="1530"/>
              <a:buNone/>
              <a:defRPr sz="1800">
                <a:solidFill>
                  <a:srgbClr val="888888"/>
                </a:solidFill>
              </a:defRPr>
            </a:lvl2pPr>
            <a:lvl3pPr indent="-228600" lvl="2" marL="1371600" algn="l">
              <a:lnSpc>
                <a:spcPct val="100000"/>
              </a:lnSpc>
              <a:spcBef>
                <a:spcPts val="370"/>
              </a:spcBef>
              <a:spcAft>
                <a:spcPts val="0"/>
              </a:spcAft>
              <a:buSzPts val="1360"/>
              <a:buNone/>
              <a:defRPr sz="1600">
                <a:solidFill>
                  <a:srgbClr val="888888"/>
                </a:solidFill>
              </a:defRPr>
            </a:lvl3pPr>
            <a:lvl4pPr indent="-228600" lvl="3" marL="1828800" algn="l">
              <a:lnSpc>
                <a:spcPct val="100000"/>
              </a:lnSpc>
              <a:spcBef>
                <a:spcPts val="370"/>
              </a:spcBef>
              <a:spcAft>
                <a:spcPts val="0"/>
              </a:spcAft>
              <a:buSzPts val="1120"/>
              <a:buNone/>
              <a:defRPr sz="1400">
                <a:solidFill>
                  <a:srgbClr val="888888"/>
                </a:solidFill>
              </a:defRPr>
            </a:lvl4pPr>
            <a:lvl5pPr indent="-228600" lvl="4" marL="2286000" algn="l">
              <a:lnSpc>
                <a:spcPct val="100000"/>
              </a:lnSpc>
              <a:spcBef>
                <a:spcPts val="370"/>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39" name="Google Shape;39;p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42" name="Google Shape;42;p4"/>
          <p:cNvSpPr/>
          <p:nvPr/>
        </p:nvSpPr>
        <p:spPr>
          <a:xfrm>
            <a:off x="69146" y="2341475"/>
            <a:ext cx="9013781" cy="45719"/>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43" name="Google Shape;43;p4"/>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44" name="Google Shape;44;p4"/>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50" name="Google Shape;50;p5"/>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1" name="Google Shape;51;p5"/>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5" name="Google Shape;55;p6"/>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6" name="Google Shape;56;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59" name="Google Shape;59;p6"/>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0" name="Google Shape;60;p6"/>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2" name="Google Shape;72;p9"/>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3" name="Google Shape;73;p9"/>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530"/>
              <a:buNone/>
              <a:defRPr sz="1800"/>
            </a:lvl1pPr>
            <a:lvl2pPr indent="-228600" lvl="1" marL="914400" algn="l">
              <a:lnSpc>
                <a:spcPct val="100000"/>
              </a:lnSpc>
              <a:spcBef>
                <a:spcPts val="370"/>
              </a:spcBef>
              <a:spcAft>
                <a:spcPts val="0"/>
              </a:spcAft>
              <a:buSzPts val="1020"/>
              <a:buNone/>
              <a:defRPr sz="1200"/>
            </a:lvl2pPr>
            <a:lvl3pPr indent="-228600" lvl="2" marL="1371600" algn="l">
              <a:lnSpc>
                <a:spcPct val="100000"/>
              </a:lnSpc>
              <a:spcBef>
                <a:spcPts val="370"/>
              </a:spcBef>
              <a:spcAft>
                <a:spcPts val="0"/>
              </a:spcAft>
              <a:buSzPts val="850"/>
              <a:buNone/>
              <a:defRPr sz="1000"/>
            </a:lvl3pPr>
            <a:lvl4pPr indent="-228600" lvl="3" marL="1828800" algn="l">
              <a:lnSpc>
                <a:spcPct val="100000"/>
              </a:lnSpc>
              <a:spcBef>
                <a:spcPts val="370"/>
              </a:spcBef>
              <a:spcAft>
                <a:spcPts val="0"/>
              </a:spcAft>
              <a:buSzPts val="720"/>
              <a:buNone/>
              <a:defRPr sz="900"/>
            </a:lvl4pPr>
            <a:lvl5pPr indent="-228600" lvl="4" marL="2286000" algn="l">
              <a:lnSpc>
                <a:spcPct val="100000"/>
              </a:lnSpc>
              <a:spcBef>
                <a:spcPts val="370"/>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5" name="Google Shape;75;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78" name="Google Shape;78;p9"/>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0"/>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360"/>
              <a:buFont typeface="Libre Baskerville"/>
              <a:buNone/>
              <a:defRPr sz="1600"/>
            </a:lvl1pPr>
            <a:lvl2pPr indent="-293369" lvl="1" marL="914400" algn="l">
              <a:lnSpc>
                <a:spcPct val="100000"/>
              </a:lnSpc>
              <a:spcBef>
                <a:spcPts val="370"/>
              </a:spcBef>
              <a:spcAft>
                <a:spcPts val="0"/>
              </a:spcAft>
              <a:buSzPts val="1020"/>
              <a:buChar char="⚫"/>
              <a:defRPr sz="1200"/>
            </a:lvl2pPr>
            <a:lvl3pPr indent="-282575" lvl="2" marL="1371600" algn="l">
              <a:lnSpc>
                <a:spcPct val="100000"/>
              </a:lnSpc>
              <a:spcBef>
                <a:spcPts val="370"/>
              </a:spcBef>
              <a:spcAft>
                <a:spcPts val="0"/>
              </a:spcAft>
              <a:buSzPts val="850"/>
              <a:buChar char="⚫"/>
              <a:defRPr sz="1000"/>
            </a:lvl3pPr>
            <a:lvl4pPr indent="-274319" lvl="3" marL="1828800" algn="l">
              <a:lnSpc>
                <a:spcPct val="100000"/>
              </a:lnSpc>
              <a:spcBef>
                <a:spcPts val="370"/>
              </a:spcBef>
              <a:spcAft>
                <a:spcPts val="0"/>
              </a:spcAft>
              <a:buSzPts val="720"/>
              <a:buChar char="⚫"/>
              <a:defRPr sz="900"/>
            </a:lvl4pPr>
            <a:lvl5pPr indent="-285750" lvl="4" marL="2286000" algn="l">
              <a:lnSpc>
                <a:spcPct val="100000"/>
              </a:lnSpc>
              <a:spcBef>
                <a:spcPts val="370"/>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6" name="Google Shape;86;p10"/>
          <p:cNvSpPr/>
          <p:nvPr/>
        </p:nvSpPr>
        <p:spPr>
          <a:xfrm>
            <a:off x="68508" y="4650474"/>
            <a:ext cx="9006639" cy="45719"/>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7" name="Google Shape;87;p10"/>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8" name="Google Shape;88;p10"/>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2" name="Google Shape;92;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2"/>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8" name="Google Shape;98;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lnSpc>
                <a:spcPct val="100000"/>
              </a:lnSpc>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lnSpc>
                <a:spcPct val="100000"/>
              </a:lnSpc>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0"/>
              </a:spcBef>
              <a:spcAft>
                <a:spcPts val="0"/>
              </a:spcAft>
              <a:buClr>
                <a:srgbClr val="B1C0DA"/>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B1C0DA"/>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DCB1B0"/>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huggingface.co/law-ai/InLegalBERT" TargetMode="Externa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huggingface.co/facebook/bart-large" TargetMode="Externa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arxiv.org/abs/2209.06049" TargetMode="External"/><Relationship Id="rId4" Type="http://schemas.openxmlformats.org/officeDocument/2006/relationships/hyperlink" Target="https://doi.org/10.1007/s42979-023-01983-y" TargetMode="External"/><Relationship Id="rId5"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huggingface.co/law-ai/InLegalBERT" TargetMode="External"/><Relationship Id="rId4" Type="http://schemas.openxmlformats.org/officeDocument/2006/relationships/hyperlink" Target="https://huggingface.co/facebook/bart-large" TargetMode="External"/><Relationship Id="rId5" Type="http://schemas.openxmlformats.org/officeDocument/2006/relationships/hyperlink" Target="https://huggingface.co/datasets/Exploration-Lab/IL-TUR" TargetMode="External"/><Relationship Id="rId6" Type="http://schemas.openxmlformats.org/officeDocument/2006/relationships/hyperlink" Target="https://cookbook.openai.com/examples/evaluation/how_to_eval_abstractive_summarization?ref=blog.mozilla.ai" TargetMode="External"/><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idx="1" type="subTitle"/>
          </p:nvPr>
        </p:nvSpPr>
        <p:spPr>
          <a:xfrm>
            <a:off x="1447800" y="3200400"/>
            <a:ext cx="6400800" cy="3429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210"/>
              <a:buNone/>
            </a:pPr>
            <a:r>
              <a:rPr b="1" lang="en-US"/>
              <a:t>Group Members</a:t>
            </a:r>
            <a:endParaRPr/>
          </a:p>
          <a:p>
            <a:pPr indent="0" lvl="0" marL="0" rtl="0" algn="ctr">
              <a:lnSpc>
                <a:spcPct val="100000"/>
              </a:lnSpc>
              <a:spcBef>
                <a:spcPts val="580"/>
              </a:spcBef>
              <a:spcAft>
                <a:spcPts val="0"/>
              </a:spcAft>
              <a:buSzPts val="2210"/>
              <a:buNone/>
            </a:pPr>
            <a:r>
              <a:t/>
            </a:r>
            <a:endParaRPr i="1"/>
          </a:p>
          <a:p>
            <a:pPr indent="0" lvl="0" marL="0" rtl="0" algn="ctr">
              <a:lnSpc>
                <a:spcPct val="100000"/>
              </a:lnSpc>
              <a:spcBef>
                <a:spcPts val="580"/>
              </a:spcBef>
              <a:spcAft>
                <a:spcPts val="0"/>
              </a:spcAft>
              <a:buSzPts val="2210"/>
              <a:buNone/>
            </a:pPr>
            <a:r>
              <a:t/>
            </a:r>
            <a:endParaRPr i="1"/>
          </a:p>
        </p:txBody>
      </p:sp>
      <p:sp>
        <p:nvSpPr>
          <p:cNvPr id="107" name="Google Shape;107;p13"/>
          <p:cNvSpPr txBox="1"/>
          <p:nvPr>
            <p:ph type="ctrTitle"/>
          </p:nvPr>
        </p:nvSpPr>
        <p:spPr>
          <a:xfrm>
            <a:off x="189400" y="1600200"/>
            <a:ext cx="8831700" cy="1348500"/>
          </a:xfrm>
          <a:prstGeom prst="rect">
            <a:avLst/>
          </a:prstGeom>
          <a:noFill/>
          <a:ln>
            <a:noFill/>
          </a:ln>
        </p:spPr>
        <p:txBody>
          <a:bodyPr anchorCtr="0" anchor="ctr" bIns="91425"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US" sz="2800">
                <a:latin typeface="Times New Roman"/>
                <a:ea typeface="Times New Roman"/>
                <a:cs typeface="Times New Roman"/>
                <a:sym typeface="Times New Roman"/>
              </a:rPr>
              <a:t>Criminal Code Summarization and Outcome Prediction Using InLegalBERT and Bharatiya Nyaya Sanhita Mapping</a:t>
            </a:r>
            <a:endParaRPr sz="2800">
              <a:latin typeface="Times New Roman"/>
              <a:ea typeface="Times New Roman"/>
              <a:cs typeface="Times New Roman"/>
              <a:sym typeface="Times New Roman"/>
            </a:endParaRPr>
          </a:p>
        </p:txBody>
      </p:sp>
      <p:pic>
        <p:nvPicPr>
          <p:cNvPr id="108" name="Google Shape;108;p13"/>
          <p:cNvPicPr preferRelativeResize="0"/>
          <p:nvPr/>
        </p:nvPicPr>
        <p:blipFill rotWithShape="1">
          <a:blip r:embed="rId3">
            <a:alphaModFix/>
          </a:blip>
          <a:srcRect b="0" l="0" r="0" t="0"/>
          <a:stretch/>
        </p:blipFill>
        <p:spPr>
          <a:xfrm>
            <a:off x="304800" y="228600"/>
            <a:ext cx="1201695" cy="1128252"/>
          </a:xfrm>
          <a:prstGeom prst="rect">
            <a:avLst/>
          </a:prstGeom>
          <a:noFill/>
          <a:ln>
            <a:noFill/>
          </a:ln>
        </p:spPr>
      </p:pic>
      <p:graphicFrame>
        <p:nvGraphicFramePr>
          <p:cNvPr id="109" name="Google Shape;109;p13"/>
          <p:cNvGraphicFramePr/>
          <p:nvPr/>
        </p:nvGraphicFramePr>
        <p:xfrm>
          <a:off x="1549750" y="4000488"/>
          <a:ext cx="3000000" cy="3000000"/>
        </p:xfrm>
        <a:graphic>
          <a:graphicData uri="http://schemas.openxmlformats.org/drawingml/2006/table">
            <a:tbl>
              <a:tblPr bandRow="1" firstRow="1">
                <a:noFill/>
                <a:tableStyleId>{8EC3033D-9189-46B2-BAFD-3FFF612F483C}</a:tableStyleId>
              </a:tblPr>
              <a:tblGrid>
                <a:gridCol w="4776750"/>
                <a:gridCol w="1420150"/>
              </a:tblGrid>
              <a:tr h="371250">
                <a:tc>
                  <a:txBody>
                    <a:bodyPr/>
                    <a:lstStyle/>
                    <a:p>
                      <a:pPr indent="0" lvl="0" marL="0" marR="0" rtl="0" algn="ctr">
                        <a:lnSpc>
                          <a:spcPct val="100000"/>
                        </a:lnSpc>
                        <a:spcBef>
                          <a:spcPts val="0"/>
                        </a:spcBef>
                        <a:spcAft>
                          <a:spcPts val="0"/>
                        </a:spcAft>
                        <a:buClr>
                          <a:srgbClr val="000000"/>
                        </a:buClr>
                        <a:buSzPts val="1800"/>
                        <a:buFont typeface="Arial"/>
                        <a:buNone/>
                      </a:pPr>
                      <a:r>
                        <a:rPr b="1" lang="en-US" sz="2400">
                          <a:latin typeface="Times New Roman"/>
                          <a:ea typeface="Times New Roman"/>
                          <a:cs typeface="Times New Roman"/>
                          <a:sym typeface="Times New Roman"/>
                        </a:rPr>
                        <a:t>Name</a:t>
                      </a:r>
                      <a:endParaRPr b="1" sz="2400">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2400">
                          <a:latin typeface="Times New Roman"/>
                          <a:ea typeface="Times New Roman"/>
                          <a:cs typeface="Times New Roman"/>
                          <a:sym typeface="Times New Roman"/>
                        </a:rPr>
                        <a:t>  Roll No.</a:t>
                      </a:r>
                      <a:endParaRPr b="1" sz="2400">
                        <a:latin typeface="Times New Roman"/>
                        <a:ea typeface="Times New Roman"/>
                        <a:cs typeface="Times New Roman"/>
                        <a:sym typeface="Times New Roman"/>
                      </a:endParaRPr>
                    </a:p>
                  </a:txBody>
                  <a:tcPr marT="45725" marB="45725" marR="91450" marL="91450"/>
                </a:tc>
              </a:tr>
              <a:tr h="334300">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Samit Fernandes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03</a:t>
                      </a:r>
                      <a:endParaRPr sz="2400">
                        <a:latin typeface="Times New Roman"/>
                        <a:ea typeface="Times New Roman"/>
                        <a:cs typeface="Times New Roman"/>
                        <a:sym typeface="Times New Roman"/>
                      </a:endParaRPr>
                    </a:p>
                  </a:txBody>
                  <a:tcPr marT="45725" marB="45725" marR="91450" marL="91450"/>
                </a:tc>
              </a:tr>
              <a:tr h="386725">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Jaden Franco</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04</a:t>
                      </a:r>
                      <a:endParaRPr sz="2400">
                        <a:latin typeface="Times New Roman"/>
                        <a:ea typeface="Times New Roman"/>
                        <a:cs typeface="Times New Roman"/>
                        <a:sym typeface="Times New Roman"/>
                      </a:endParaRPr>
                    </a:p>
                  </a:txBody>
                  <a:tcPr marT="45725" marB="45725" marR="91450" marL="91450"/>
                </a:tc>
              </a:tr>
              <a:tr h="371250">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Ralph Pereira</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2400">
                          <a:latin typeface="Times New Roman"/>
                          <a:ea typeface="Times New Roman"/>
                          <a:cs typeface="Times New Roman"/>
                          <a:sym typeface="Times New Roman"/>
                        </a:rPr>
                        <a:t>19</a:t>
                      </a:r>
                      <a:endParaRPr sz="2400">
                        <a:latin typeface="Times New Roman"/>
                        <a:ea typeface="Times New Roman"/>
                        <a:cs typeface="Times New Roman"/>
                        <a:sym typeface="Times New Roman"/>
                      </a:endParaRPr>
                    </a:p>
                  </a:txBody>
                  <a:tcPr marT="45725" marB="45725" marR="91450" marL="91450"/>
                </a:tc>
              </a:tr>
            </a:tbl>
          </a:graphicData>
        </a:graphic>
      </p:graphicFrame>
      <p:sp>
        <p:nvSpPr>
          <p:cNvPr id="110" name="Google Shape;110;p13"/>
          <p:cNvSpPr txBox="1"/>
          <p:nvPr/>
        </p:nvSpPr>
        <p:spPr>
          <a:xfrm>
            <a:off x="1981200" y="361775"/>
            <a:ext cx="6553200" cy="861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2700" u="none" cap="none" strike="noStrike">
                <a:solidFill>
                  <a:schemeClr val="dk1"/>
                </a:solidFill>
                <a:latin typeface="Libre Baskerville"/>
                <a:ea typeface="Libre Baskerville"/>
                <a:cs typeface="Libre Baskerville"/>
                <a:sym typeface="Libre Baskerville"/>
              </a:rPr>
              <a:t>St. Francis Institute of Technology</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1" lang="en-US" sz="2300" u="none" cap="none" strike="noStrike">
                <a:solidFill>
                  <a:schemeClr val="dk1"/>
                </a:solidFill>
                <a:latin typeface="Libre Baskerville"/>
                <a:ea typeface="Libre Baskerville"/>
                <a:cs typeface="Libre Baskerville"/>
                <a:sym typeface="Libre Baskerville"/>
              </a:rPr>
              <a:t>Department of Computer Engineering</a:t>
            </a:r>
            <a:r>
              <a:rPr b="0" i="0" lang="en-US" sz="2300" u="none" cap="none" strike="noStrike">
                <a:solidFill>
                  <a:schemeClr val="dk1"/>
                </a:solidFill>
                <a:latin typeface="Libre Baskerville"/>
                <a:ea typeface="Libre Baskerville"/>
                <a:cs typeface="Libre Baskerville"/>
                <a:sym typeface="Libre Baskerville"/>
              </a:rPr>
              <a:t> </a:t>
            </a:r>
            <a:endParaRPr b="0" i="0" sz="2700" u="none" cap="none" strike="noStrike">
              <a:solidFill>
                <a:schemeClr val="dk1"/>
              </a:solidFill>
              <a:latin typeface="Libre Baskerville"/>
              <a:ea typeface="Libre Baskerville"/>
              <a:cs typeface="Libre Baskerville"/>
              <a:sym typeface="Libre Baskerville"/>
            </a:endParaRPr>
          </a:p>
        </p:txBody>
      </p:sp>
      <p:sp>
        <p:nvSpPr>
          <p:cNvPr id="111" name="Google Shape;111;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12" name="Google Shape;112;p13"/>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pic>
        <p:nvPicPr>
          <p:cNvPr id="113" name="Google Shape;113;p13"/>
          <p:cNvPicPr preferRelativeResize="0"/>
          <p:nvPr/>
        </p:nvPicPr>
        <p:blipFill rotWithShape="1">
          <a:blip r:embed="rId4">
            <a:alphaModFix/>
          </a:blip>
          <a:srcRect b="0" l="0" r="0" t="0"/>
          <a:stretch/>
        </p:blipFill>
        <p:spPr>
          <a:xfrm>
            <a:off x="8305800" y="6172200"/>
            <a:ext cx="533400" cy="5242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4"/>
          <p:cNvSpPr txBox="1"/>
          <p:nvPr>
            <p:ph type="title"/>
          </p:nvPr>
        </p:nvSpPr>
        <p:spPr>
          <a:xfrm>
            <a:off x="146300" y="274650"/>
            <a:ext cx="8871900" cy="7923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Times New Roman"/>
              <a:buNone/>
            </a:pPr>
            <a:r>
              <a:rPr b="1" lang="en-US">
                <a:latin typeface="Times New Roman"/>
                <a:ea typeface="Times New Roman"/>
                <a:cs typeface="Times New Roman"/>
                <a:sym typeface="Times New Roman"/>
              </a:rPr>
              <a:t>Conte</a:t>
            </a:r>
            <a:r>
              <a:rPr b="1" lang="en-US">
                <a:latin typeface="Times New Roman"/>
                <a:ea typeface="Times New Roman"/>
                <a:cs typeface="Times New Roman"/>
                <a:sym typeface="Times New Roman"/>
              </a:rPr>
              <a:t>n</a:t>
            </a:r>
            <a:r>
              <a:rPr b="1" lang="en-US">
                <a:latin typeface="Times New Roman"/>
                <a:ea typeface="Times New Roman"/>
                <a:cs typeface="Times New Roman"/>
                <a:sym typeface="Times New Roman"/>
              </a:rPr>
              <a:t>t</a:t>
            </a:r>
            <a:endParaRPr/>
          </a:p>
        </p:txBody>
      </p:sp>
      <p:sp>
        <p:nvSpPr>
          <p:cNvPr id="120" name="Google Shape;120;p1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21" name="Google Shape;121;p14"/>
          <p:cNvSpPr txBox="1"/>
          <p:nvPr>
            <p:ph idx="1" type="body"/>
          </p:nvPr>
        </p:nvSpPr>
        <p:spPr>
          <a:xfrm>
            <a:off x="685800" y="1245000"/>
            <a:ext cx="7772400" cy="4368000"/>
          </a:xfrm>
          <a:prstGeom prst="rect">
            <a:avLst/>
          </a:prstGeom>
          <a:noFill/>
          <a:ln>
            <a:noFill/>
          </a:ln>
        </p:spPr>
        <p:txBody>
          <a:bodyPr anchorCtr="0" anchor="t" bIns="45700" lIns="91425" spcFirstLastPara="1" rIns="91425" wrap="square" tIns="45700">
            <a:normAutofit/>
          </a:bodyPr>
          <a:lstStyle/>
          <a:p>
            <a:pPr indent="-317500" lvl="0" marL="457200" rtl="0" algn="l">
              <a:lnSpc>
                <a:spcPct val="115000"/>
              </a:lnSpc>
              <a:spcBef>
                <a:spcPts val="580"/>
              </a:spcBef>
              <a:spcAft>
                <a:spcPts val="0"/>
              </a:spcAft>
              <a:buSzPts val="1400"/>
              <a:buFont typeface="Times New Roman"/>
              <a:buChar char="●"/>
            </a:pPr>
            <a:r>
              <a:rPr lang="en-US" sz="2400">
                <a:latin typeface="Times New Roman"/>
                <a:ea typeface="Times New Roman"/>
                <a:cs typeface="Times New Roman"/>
                <a:sym typeface="Times New Roman"/>
              </a:rPr>
              <a:t>Introduction</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Existing System</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Literature Review</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Problem definition </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Proposed Solution</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Flowchart</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Experimental Setup</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Output</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Conclusion</a:t>
            </a:r>
            <a:endParaRPr sz="2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sz="2400">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pic>
        <p:nvPicPr>
          <p:cNvPr id="122" name="Google Shape;122;p14"/>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23" name="Google Shape;123;p14"/>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Introduction</a:t>
            </a:r>
            <a:endParaRPr/>
          </a:p>
        </p:txBody>
      </p:sp>
      <p:sp>
        <p:nvSpPr>
          <p:cNvPr id="130" name="Google Shape;130;p1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31" name="Google Shape;131;p15"/>
          <p:cNvSpPr txBox="1"/>
          <p:nvPr>
            <p:ph idx="1" type="body"/>
          </p:nvPr>
        </p:nvSpPr>
        <p:spPr>
          <a:xfrm>
            <a:off x="650900" y="1363225"/>
            <a:ext cx="7862700" cy="49914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The Bharatiya Nyaya Sanhita (BNS) Act introduces a modernized legal framework, replacing the long-standing Indian Penal Code (IPC), which has faced challenges due to outdated language and complex classifications.</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The BNS Act simplifies these classifications, aiming to enhance accessibility, efficiency, and relevance in criminal law processes.</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The transition to the BNS framework presents challenges for legal professionals who rely on IPC-based tools, as existing systems are not compatible with the new framework.</a:t>
            </a:r>
            <a:endParaRPr sz="2444">
              <a:latin typeface="Times New Roman"/>
              <a:ea typeface="Times New Roman"/>
              <a:cs typeface="Times New Roman"/>
              <a:sym typeface="Times New Roman"/>
            </a:endParaRPr>
          </a:p>
        </p:txBody>
      </p:sp>
      <p:pic>
        <p:nvPicPr>
          <p:cNvPr id="132" name="Google Shape;132;p15"/>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33" name="Google Shape;133;p15"/>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Introduction</a:t>
            </a:r>
            <a:endParaRPr/>
          </a:p>
        </p:txBody>
      </p:sp>
      <p:sp>
        <p:nvSpPr>
          <p:cNvPr id="140" name="Google Shape;140;p1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41" name="Google Shape;141;p16"/>
          <p:cNvSpPr txBox="1"/>
          <p:nvPr>
            <p:ph idx="1" type="body"/>
          </p:nvPr>
        </p:nvSpPr>
        <p:spPr>
          <a:xfrm>
            <a:off x="640650" y="1551900"/>
            <a:ext cx="7862700" cy="37542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There is a need for BNS-specific tools and datasets to assist with tasks such as legal document summarization, section mapping, and case outcome prediction.</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This project aims to bridge the gap by creating a structured dataset and a rule-based mapping strategy to align IPC sections with their BNS equivalents, improving legal document processing under the new BNS framework.</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42" name="Google Shape;142;p16"/>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43" name="Google Shape;143;p16"/>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Existing System</a:t>
            </a:r>
            <a:endParaRPr/>
          </a:p>
        </p:txBody>
      </p:sp>
      <p:sp>
        <p:nvSpPr>
          <p:cNvPr id="150" name="Google Shape;150;p1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51" name="Google Shape;151;p17"/>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Existing systems are designed for IPC-based analysis and lack the structural adjustments needed for the BNS Act, resulting in a lack of BNS-compatible datasets.</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There is no systematic mapping of IPC sections to their BNS equivalents, making it difficult to interpret or apply historical data within the new framework.</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Current legal document summarization models are tailored to IPC-based cases, failing to align with the simplified classifications of BNS.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52" name="Google Shape;152;p17"/>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53" name="Google Shape;153;p17"/>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Literature Review</a:t>
            </a:r>
            <a:endParaRPr/>
          </a:p>
        </p:txBody>
      </p:sp>
      <p:sp>
        <p:nvSpPr>
          <p:cNvPr id="160" name="Google Shape;160;p1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61" name="Google Shape;161;p18"/>
          <p:cNvSpPr txBox="1"/>
          <p:nvPr>
            <p:ph idx="1" type="body"/>
          </p:nvPr>
        </p:nvSpPr>
        <p:spPr>
          <a:xfrm>
            <a:off x="640650" y="1551900"/>
            <a:ext cx="7862700" cy="45510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Paul, et al. [1] retrained LegalBERT and CaseLawBERT on Indian legal data, finding that InLegalBERT showed significant improvements in legal document summarization, especially in understanding legal terminology and context.</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S. Sharma et al. [2] explores using InLegalBERT for legal document summarization. Evaluated against Legal Pegasus, T5 base, BART, and BERT using ROUGE-L F1 scores, InLegalBERT achieves the best performance for Indian legal texts.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62" name="Google Shape;162;p18"/>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63" name="Google Shape;163;p18"/>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Literature Review</a:t>
            </a:r>
            <a:endParaRPr/>
          </a:p>
        </p:txBody>
      </p:sp>
      <p:sp>
        <p:nvSpPr>
          <p:cNvPr id="170" name="Google Shape;170;p1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71" name="Google Shape;171;p19"/>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lang="en-US" sz="2444">
                <a:latin typeface="Times New Roman"/>
                <a:ea typeface="Times New Roman"/>
                <a:cs typeface="Times New Roman"/>
                <a:sym typeface="Times New Roman"/>
              </a:rPr>
              <a:t>Rani, U. and Bidhan, K. [3] provides a comparative analysis of various extractive summarization techniques, including TextRank, TF-IDF, and LDA, evaluating their effectiveness in condensing textual content, especially in contexts requiring concise and relevant summaries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72" name="Google Shape;172;p19"/>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73" name="Google Shape;173;p19"/>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Problem Definition</a:t>
            </a:r>
            <a:endParaRPr/>
          </a:p>
        </p:txBody>
      </p:sp>
      <p:sp>
        <p:nvSpPr>
          <p:cNvPr id="180" name="Google Shape;180;p2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81" name="Google Shape;181;p20"/>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580"/>
              </a:spcBef>
              <a:spcAft>
                <a:spcPts val="0"/>
              </a:spcAft>
              <a:buNone/>
            </a:pPr>
            <a:r>
              <a:rPr lang="en-US" sz="2444">
                <a:latin typeface="Times New Roman"/>
                <a:ea typeface="Times New Roman"/>
                <a:cs typeface="Times New Roman"/>
                <a:sym typeface="Times New Roman"/>
              </a:rPr>
              <a:t>The shift from IPC to BNS creates challenges in legal document analysis due to the lack of a BNS-specific dataset and tools. Existing systems, designed for IPC, cannot efficiently handle the new BNS structure, hindering tasks like summarization, section mapping, and outcome prediction. This highlights the need for tailored tools and datasets to support legal analysis under the BNS framework.</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82" name="Google Shape;182;p20"/>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83" name="Google Shape;183;p20"/>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190" name="Google Shape;190;p2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191" name="Google Shape;191;p21"/>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Create synthetic BNS dataset mapping IPC to BNS</a:t>
            </a:r>
            <a:endParaRPr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Use InLegalBERT for generating embeddings for extractive summarization</a:t>
            </a:r>
            <a:endParaRPr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Fine-tune BART for abstractive summarization</a:t>
            </a:r>
            <a:endParaRPr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Present case findings in detail</a:t>
            </a:r>
            <a:endParaRPr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Rule-based IPC to BNS mapping</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192" name="Google Shape;192;p21"/>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193" name="Google Shape;193;p21"/>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200" name="Google Shape;200;p2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01" name="Google Shape;201;p22"/>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Create synthetic BNS dataset mapping IPC to BNS</a:t>
            </a:r>
            <a:endParaRPr b="1"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Since no official BNS dataset exists, a synthetic dataset was created.</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IPC sections were manually mapped to their corresponding BNS sections.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This dataset serves as the foundation for training and testing the system on BNS cases.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Ensures structured analysis and continuity between IPC and BNS cases.</a:t>
            </a:r>
            <a:endParaRPr sz="2444">
              <a:latin typeface="Times New Roman"/>
              <a:ea typeface="Times New Roman"/>
              <a:cs typeface="Times New Roman"/>
              <a:sym typeface="Times New Roman"/>
            </a:endParaRPr>
          </a:p>
          <a:p>
            <a:pPr indent="0" lvl="0" marL="45720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02" name="Google Shape;202;p22"/>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03" name="Google Shape;203;p22"/>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3"/>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210" name="Google Shape;210;p2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11" name="Google Shape;211;p23"/>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2"/>
            </a:pPr>
            <a:r>
              <a:rPr b="1" lang="en-US" sz="2444">
                <a:latin typeface="Times New Roman"/>
                <a:ea typeface="Times New Roman"/>
                <a:cs typeface="Times New Roman"/>
                <a:sym typeface="Times New Roman"/>
              </a:rPr>
              <a:t>Use InLegalBERT for generating embeddings for extractive summarization</a:t>
            </a:r>
            <a:endParaRPr b="1"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InLegalBERT, a legal-domain pre-trained model, is used for sentence embedding.</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Each sentence from the legal document is transformed into a dense vector.</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Sentence similarity is computed using embeddings to select key sentences.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Helps extract the most relevant parts of the document while preserving legal meaning.</a:t>
            </a:r>
            <a:endParaRPr sz="2444">
              <a:latin typeface="Times New Roman"/>
              <a:ea typeface="Times New Roman"/>
              <a:cs typeface="Times New Roman"/>
              <a:sym typeface="Times New Roman"/>
            </a:endParaRPr>
          </a:p>
          <a:p>
            <a:pPr indent="0" lvl="0" marL="45720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12" name="Google Shape;212;p23"/>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13" name="Google Shape;213;p23"/>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220" name="Google Shape;220;p2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21" name="Google Shape;221;p24"/>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3"/>
            </a:pPr>
            <a:r>
              <a:rPr b="1" lang="en-US" sz="2444">
                <a:latin typeface="Times New Roman"/>
                <a:ea typeface="Times New Roman"/>
                <a:cs typeface="Times New Roman"/>
                <a:sym typeface="Times New Roman"/>
              </a:rPr>
              <a:t>Fine-tune BART for abstractive summarization</a:t>
            </a:r>
            <a:endParaRPr b="1"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A fine-tuned BART model (facebook/bart-large) is used for summarization.</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Extracted sentences are further processed to generate human-like, rephrased summaries.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BART handles complex legal terminologies and produces coherent, fluent summaries.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This improves readability without losing important legal facts.</a:t>
            </a:r>
            <a:endParaRPr sz="2444">
              <a:latin typeface="Times New Roman"/>
              <a:ea typeface="Times New Roman"/>
              <a:cs typeface="Times New Roman"/>
              <a:sym typeface="Times New Roman"/>
            </a:endParaRPr>
          </a:p>
          <a:p>
            <a:pPr indent="0" lvl="0" marL="45720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22" name="Google Shape;222;p24"/>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23" name="Google Shape;223;p24"/>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230" name="Google Shape;230;p2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31" name="Google Shape;231;p25"/>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4"/>
            </a:pPr>
            <a:r>
              <a:rPr b="1" lang="en-US" sz="2444">
                <a:latin typeface="Times New Roman"/>
                <a:ea typeface="Times New Roman"/>
                <a:cs typeface="Times New Roman"/>
                <a:sym typeface="Times New Roman"/>
              </a:rPr>
              <a:t>Present case findings in detail</a:t>
            </a:r>
            <a:endParaRPr b="1"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After summarization, detailed case analysis is performed.</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Important aspects like case background, evidence, legal sections, and outcomes are extracted.</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Summarization is complemented with IPC and BNS code references.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Helps legal professionals understand the case in a concise but informative manner.</a:t>
            </a:r>
            <a:endParaRPr sz="2444">
              <a:latin typeface="Times New Roman"/>
              <a:ea typeface="Times New Roman"/>
              <a:cs typeface="Times New Roman"/>
              <a:sym typeface="Times New Roman"/>
            </a:endParaRPr>
          </a:p>
          <a:p>
            <a:pPr indent="0" lvl="0" marL="45720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32" name="Google Shape;232;p25"/>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33" name="Google Shape;233;p25"/>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Proposed Solution</a:t>
            </a:r>
            <a:endParaRPr/>
          </a:p>
        </p:txBody>
      </p:sp>
      <p:sp>
        <p:nvSpPr>
          <p:cNvPr id="240" name="Google Shape;240;p2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41" name="Google Shape;241;p26"/>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5"/>
            </a:pPr>
            <a:r>
              <a:rPr b="1" lang="en-US" sz="2444">
                <a:latin typeface="Times New Roman"/>
                <a:ea typeface="Times New Roman"/>
                <a:cs typeface="Times New Roman"/>
                <a:sym typeface="Times New Roman"/>
              </a:rPr>
              <a:t>Rule-based IPC to BNS mapping</a:t>
            </a:r>
            <a:endParaRPr b="1"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A rule-based system identifies IPC sections in the text using regex and NER (Named Entity Recognition).</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It then maps them automatically to the corresponding BNS sections.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The mapping ensures that legal documents can be interpreted accurately under the new BNS framework.</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This strategy bridges the gap between historical IPC cases and the new legal structure.</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42" name="Google Shape;242;p26"/>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43" name="Google Shape;243;p26"/>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Flowchart</a:t>
            </a:r>
            <a:endParaRPr/>
          </a:p>
        </p:txBody>
      </p:sp>
      <p:sp>
        <p:nvSpPr>
          <p:cNvPr id="250" name="Google Shape;250;p2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pic>
        <p:nvPicPr>
          <p:cNvPr id="251" name="Google Shape;251;p27"/>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52" name="Google Shape;252;p27"/>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253" name="Google Shape;253;p27"/>
          <p:cNvSpPr txBox="1"/>
          <p:nvPr/>
        </p:nvSpPr>
        <p:spPr>
          <a:xfrm>
            <a:off x="287250" y="4894763"/>
            <a:ext cx="85695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(1) Flowchart for document summarization and sections mapping</a:t>
            </a:r>
            <a:endParaRPr i="1" sz="1800">
              <a:solidFill>
                <a:schemeClr val="dk1"/>
              </a:solidFill>
              <a:latin typeface="Times New Roman"/>
              <a:ea typeface="Times New Roman"/>
              <a:cs typeface="Times New Roman"/>
              <a:sym typeface="Times New Roman"/>
            </a:endParaRPr>
          </a:p>
        </p:txBody>
      </p:sp>
      <p:pic>
        <p:nvPicPr>
          <p:cNvPr id="254" name="Google Shape;254;p27"/>
          <p:cNvPicPr preferRelativeResize="0"/>
          <p:nvPr/>
        </p:nvPicPr>
        <p:blipFill>
          <a:blip r:embed="rId4">
            <a:alphaModFix/>
          </a:blip>
          <a:stretch>
            <a:fillRect/>
          </a:stretch>
        </p:blipFill>
        <p:spPr>
          <a:xfrm>
            <a:off x="226988" y="2054763"/>
            <a:ext cx="8690025" cy="2748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Flowchart</a:t>
            </a:r>
            <a:endParaRPr/>
          </a:p>
        </p:txBody>
      </p:sp>
      <p:sp>
        <p:nvSpPr>
          <p:cNvPr id="261" name="Google Shape;261;p2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62" name="Google Shape;262;p28"/>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Input Legal Document</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Text Extraction from the document</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Preprocessing (cleaning, formatting)</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Text Splitting into sentences</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Sentence Embeddings using InLegalBERT</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Extractive Summarization</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Abstractive Summarization using BART</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a:pPr>
            <a:r>
              <a:rPr b="1" lang="en-US" sz="2444">
                <a:latin typeface="Times New Roman"/>
                <a:ea typeface="Times New Roman"/>
                <a:cs typeface="Times New Roman"/>
                <a:sym typeface="Times New Roman"/>
              </a:rPr>
              <a:t>Output Final Summary</a:t>
            </a:r>
            <a:endParaRPr b="1"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63" name="Google Shape;263;p28"/>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64" name="Google Shape;264;p28"/>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Flowchart</a:t>
            </a:r>
            <a:endParaRPr/>
          </a:p>
        </p:txBody>
      </p:sp>
      <p:sp>
        <p:nvSpPr>
          <p:cNvPr id="271" name="Google Shape;271;p2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72" name="Google Shape;272;p29"/>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9"/>
            </a:pPr>
            <a:r>
              <a:rPr b="1" lang="en-US" sz="2444">
                <a:latin typeface="Times New Roman"/>
                <a:ea typeface="Times New Roman"/>
                <a:cs typeface="Times New Roman"/>
                <a:sym typeface="Times New Roman"/>
              </a:rPr>
              <a:t>NER Extraction (find legal entities like dates, sections)</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startAt="9"/>
            </a:pPr>
            <a:r>
              <a:rPr b="1" lang="en-US" sz="2444">
                <a:latin typeface="Times New Roman"/>
                <a:ea typeface="Times New Roman"/>
                <a:cs typeface="Times New Roman"/>
                <a:sym typeface="Times New Roman"/>
              </a:rPr>
              <a:t>Case Analysis (case details, outcomes)</a:t>
            </a:r>
            <a:endParaRPr b="1" sz="2444">
              <a:latin typeface="Times New Roman"/>
              <a:ea typeface="Times New Roman"/>
              <a:cs typeface="Times New Roman"/>
              <a:sym typeface="Times New Roman"/>
            </a:endParaRPr>
          </a:p>
          <a:p>
            <a:pPr indent="-344845" lvl="0" marL="457200" rtl="0" algn="just">
              <a:lnSpc>
                <a:spcPct val="115000"/>
              </a:lnSpc>
              <a:spcBef>
                <a:spcPts val="580"/>
              </a:spcBef>
              <a:spcAft>
                <a:spcPts val="0"/>
              </a:spcAft>
              <a:buSzPts val="1831"/>
              <a:buFont typeface="Times New Roman"/>
              <a:buAutoNum type="arabicPeriod" startAt="9"/>
            </a:pPr>
            <a:r>
              <a:rPr b="1" lang="en-US" sz="2444">
                <a:latin typeface="Times New Roman"/>
                <a:ea typeface="Times New Roman"/>
                <a:cs typeface="Times New Roman"/>
                <a:sym typeface="Times New Roman"/>
              </a:rPr>
              <a:t>IPC to BNS Mapping (update legal sections)</a:t>
            </a:r>
            <a:endParaRPr b="1"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73" name="Google Shape;273;p29"/>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74" name="Google Shape;274;p29"/>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281" name="Google Shape;281;p3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82" name="Google Shape;282;p30"/>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Dataset: </a:t>
            </a:r>
            <a:r>
              <a:rPr lang="en-US" sz="2444">
                <a:latin typeface="Times New Roman"/>
                <a:ea typeface="Times New Roman"/>
                <a:cs typeface="Times New Roman"/>
                <a:sym typeface="Times New Roman"/>
              </a:rPr>
              <a:t>7100 Indian Supreme Court judgments</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Models Used:</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InLegalBERT (Extractive Summarization)</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Facebook/BART- (Abstractive Summarization)</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Evaluation Metrics: </a:t>
            </a:r>
            <a:r>
              <a:rPr lang="en-US" sz="2444">
                <a:latin typeface="Times New Roman"/>
                <a:ea typeface="Times New Roman"/>
                <a:cs typeface="Times New Roman"/>
                <a:sym typeface="Times New Roman"/>
              </a:rPr>
              <a:t>ROUGE, BLEU, METEOR, BERTScore</a:t>
            </a:r>
            <a:endParaRPr sz="2444">
              <a:latin typeface="Times New Roman"/>
              <a:ea typeface="Times New Roman"/>
              <a:cs typeface="Times New Roman"/>
              <a:sym typeface="Times New Roman"/>
            </a:endParaRPr>
          </a:p>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Hardware: </a:t>
            </a:r>
            <a:r>
              <a:rPr lang="en-US" sz="2444">
                <a:latin typeface="Times New Roman"/>
                <a:ea typeface="Times New Roman"/>
                <a:cs typeface="Times New Roman"/>
                <a:sym typeface="Times New Roman"/>
              </a:rPr>
              <a:t>Windows 11, 16GB RAM, Ryzen 6800H, RTX 3050 GPU</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83" name="Google Shape;283;p30"/>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84" name="Google Shape;284;p30"/>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291" name="Google Shape;291;p3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92" name="Google Shape;292;p31"/>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Dataset :</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b="1" lang="en-US" sz="2444">
                <a:latin typeface="Times New Roman"/>
                <a:ea typeface="Times New Roman"/>
                <a:cs typeface="Times New Roman"/>
                <a:sym typeface="Times New Roman"/>
              </a:rPr>
              <a:t>Data Source: </a:t>
            </a:r>
            <a:r>
              <a:rPr lang="en-US" sz="2444">
                <a:latin typeface="Times New Roman"/>
                <a:ea typeface="Times New Roman"/>
                <a:cs typeface="Times New Roman"/>
                <a:sym typeface="Times New Roman"/>
              </a:rPr>
              <a:t>The dataset was created from 7.1k Indian Supreme Court case documents.</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b="1" lang="en-US" sz="2444">
                <a:latin typeface="Times New Roman"/>
                <a:ea typeface="Times New Roman"/>
                <a:cs typeface="Times New Roman"/>
                <a:sym typeface="Times New Roman"/>
              </a:rPr>
              <a:t>Data Splits: </a:t>
            </a:r>
            <a:r>
              <a:rPr lang="en-US" sz="2444">
                <a:latin typeface="Times New Roman"/>
                <a:ea typeface="Times New Roman"/>
                <a:cs typeface="Times New Roman"/>
                <a:sym typeface="Times New Roman"/>
              </a:rPr>
              <a:t>The data is divided into two splits: 'train' (7k docs) and 'test' (100 docs).</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b="1" lang="en-US" sz="2444">
                <a:latin typeface="Times New Roman"/>
                <a:ea typeface="Times New Roman"/>
                <a:cs typeface="Times New Roman"/>
                <a:sym typeface="Times New Roman"/>
              </a:rPr>
              <a:t>Data Instance: </a:t>
            </a:r>
            <a:r>
              <a:rPr lang="en-US" sz="2444">
                <a:latin typeface="Times New Roman"/>
                <a:ea typeface="Times New Roman"/>
                <a:cs typeface="Times New Roman"/>
                <a:sym typeface="Times New Roman"/>
              </a:rPr>
              <a:t>An example from 'train' looks as follows: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293" name="Google Shape;293;p31"/>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294" name="Google Shape;294;p31"/>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pic>
        <p:nvPicPr>
          <p:cNvPr id="295" name="Google Shape;295;p31"/>
          <p:cNvPicPr preferRelativeResize="0"/>
          <p:nvPr/>
        </p:nvPicPr>
        <p:blipFill>
          <a:blip r:embed="rId4">
            <a:alphaModFix/>
          </a:blip>
          <a:stretch>
            <a:fillRect/>
          </a:stretch>
        </p:blipFill>
        <p:spPr>
          <a:xfrm>
            <a:off x="2534375" y="4810075"/>
            <a:ext cx="4095750" cy="1600200"/>
          </a:xfrm>
          <a:prstGeom prst="rect">
            <a:avLst/>
          </a:prstGeom>
          <a:noFill/>
          <a:ln>
            <a:noFill/>
          </a:ln>
        </p:spPr>
      </p:pic>
      <p:sp>
        <p:nvSpPr>
          <p:cNvPr id="296" name="Google Shape;296;p31"/>
          <p:cNvSpPr txBox="1"/>
          <p:nvPr/>
        </p:nvSpPr>
        <p:spPr>
          <a:xfrm>
            <a:off x="287250" y="6298063"/>
            <a:ext cx="85695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(2) Dataset Instance Example</a:t>
            </a:r>
            <a:endParaRPr i="1" sz="18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2"/>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303" name="Google Shape;303;p3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04" name="Google Shape;304;p32"/>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Models Used:</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u="sng">
                <a:latin typeface="Times New Roman"/>
                <a:ea typeface="Times New Roman"/>
                <a:cs typeface="Times New Roman"/>
                <a:sym typeface="Times New Roman"/>
              </a:rPr>
              <a:t>InLegalBERT (Extractive Summarization)</a:t>
            </a:r>
            <a:endParaRPr sz="2444" u="sng">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This model is used to generate legal sentence embeddings for extractive summary.</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The model has the configuration: </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12 hidden layers</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768 hidden dimensionality</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12 attention heads</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~110M parameters.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rPr lang="en-US" sz="2444" u="sng">
                <a:solidFill>
                  <a:schemeClr val="hlink"/>
                </a:solidFill>
                <a:latin typeface="Times New Roman"/>
                <a:ea typeface="Times New Roman"/>
                <a:cs typeface="Times New Roman"/>
                <a:sym typeface="Times New Roman"/>
                <a:hlinkClick r:id="rId3"/>
              </a:rPr>
              <a:t>https://huggingface.co/law-ai/InLegalBERT</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05" name="Google Shape;305;p32"/>
          <p:cNvPicPr preferRelativeResize="0"/>
          <p:nvPr/>
        </p:nvPicPr>
        <p:blipFill rotWithShape="1">
          <a:blip r:embed="rId4">
            <a:alphaModFix/>
          </a:blip>
          <a:srcRect b="0" l="0" r="0" t="0"/>
          <a:stretch/>
        </p:blipFill>
        <p:spPr>
          <a:xfrm>
            <a:off x="8305800" y="6172200"/>
            <a:ext cx="533400" cy="524282"/>
          </a:xfrm>
          <a:prstGeom prst="rect">
            <a:avLst/>
          </a:prstGeom>
          <a:noFill/>
          <a:ln>
            <a:noFill/>
          </a:ln>
        </p:spPr>
      </p:pic>
      <p:sp>
        <p:nvSpPr>
          <p:cNvPr id="306" name="Google Shape;306;p32"/>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313" name="Google Shape;313;p3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14" name="Google Shape;314;p33"/>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Models Used:</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u="sng">
                <a:latin typeface="Times New Roman"/>
                <a:ea typeface="Times New Roman"/>
                <a:cs typeface="Times New Roman"/>
                <a:sym typeface="Times New Roman"/>
              </a:rPr>
              <a:t>Facebook/BART- (Abstractive Summarization)</a:t>
            </a:r>
            <a:endParaRPr sz="2444" u="sng">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This model is a large variant of BART and is effective for text generation</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The model has the configuration: </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12 hidden layers in the encoder and decoder</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1024 hidden dimensionality</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16 attention heads</a:t>
            </a:r>
            <a:endParaRPr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a:latin typeface="Times New Roman"/>
                <a:ea typeface="Times New Roman"/>
                <a:cs typeface="Times New Roman"/>
                <a:sym typeface="Times New Roman"/>
              </a:rPr>
              <a:t>~406M parameters.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rPr lang="en-US" sz="2444" u="sng">
                <a:solidFill>
                  <a:schemeClr val="hlink"/>
                </a:solidFill>
                <a:latin typeface="Times New Roman"/>
                <a:ea typeface="Times New Roman"/>
                <a:cs typeface="Times New Roman"/>
                <a:sym typeface="Times New Roman"/>
                <a:hlinkClick r:id="rId3"/>
              </a:rPr>
              <a:t>https://huggingface.co/facebook/bart-large</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15" name="Google Shape;315;p33"/>
          <p:cNvPicPr preferRelativeResize="0"/>
          <p:nvPr/>
        </p:nvPicPr>
        <p:blipFill rotWithShape="1">
          <a:blip r:embed="rId4">
            <a:alphaModFix/>
          </a:blip>
          <a:srcRect b="0" l="0" r="0" t="0"/>
          <a:stretch/>
        </p:blipFill>
        <p:spPr>
          <a:xfrm>
            <a:off x="8305800" y="6172200"/>
            <a:ext cx="533400" cy="524282"/>
          </a:xfrm>
          <a:prstGeom prst="rect">
            <a:avLst/>
          </a:prstGeom>
          <a:noFill/>
          <a:ln>
            <a:noFill/>
          </a:ln>
        </p:spPr>
      </p:pic>
      <p:sp>
        <p:nvSpPr>
          <p:cNvPr id="316" name="Google Shape;316;p33"/>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323" name="Google Shape;323;p3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24" name="Google Shape;324;p34"/>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Evaluation Metrics</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u="sng">
                <a:latin typeface="Times New Roman"/>
                <a:ea typeface="Times New Roman"/>
                <a:cs typeface="Times New Roman"/>
                <a:sym typeface="Times New Roman"/>
              </a:rPr>
              <a:t>ROUGE</a:t>
            </a:r>
            <a:r>
              <a:rPr lang="en-US" sz="2444">
                <a:latin typeface="Times New Roman"/>
                <a:ea typeface="Times New Roman"/>
                <a:cs typeface="Times New Roman"/>
                <a:sym typeface="Times New Roman"/>
              </a:rPr>
              <a:t> (Recall-Oriented Understudy for Gisting Evaluation)</a:t>
            </a:r>
            <a:endParaRPr sz="2444">
              <a:latin typeface="Times New Roman"/>
              <a:ea typeface="Times New Roman"/>
              <a:cs typeface="Times New Roman"/>
              <a:sym typeface="Times New Roman"/>
            </a:endParaRPr>
          </a:p>
          <a:p>
            <a:pPr indent="-320309" lvl="1" marL="914400" rtl="0" algn="just">
              <a:lnSpc>
                <a:spcPct val="115000"/>
              </a:lnSpc>
              <a:spcBef>
                <a:spcPts val="37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ROUGE-1: Measures unigram (single word) overlap between generated and reference summaries.</a:t>
            </a:r>
            <a:endParaRPr sz="2444">
              <a:latin typeface="Times New Roman"/>
              <a:ea typeface="Times New Roman"/>
              <a:cs typeface="Times New Roman"/>
              <a:sym typeface="Times New Roman"/>
            </a:endParaRPr>
          </a:p>
          <a:p>
            <a:pPr indent="-320309" lvl="1" marL="914400" rtl="0" algn="just">
              <a:lnSpc>
                <a:spcPct val="115000"/>
              </a:lnSpc>
              <a:spcBef>
                <a:spcPts val="37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ROUGE-2: Measures bigram (two consecutive words) overlap.</a:t>
            </a:r>
            <a:endParaRPr sz="2444">
              <a:latin typeface="Times New Roman"/>
              <a:ea typeface="Times New Roman"/>
              <a:cs typeface="Times New Roman"/>
              <a:sym typeface="Times New Roman"/>
            </a:endParaRPr>
          </a:p>
          <a:p>
            <a:pPr indent="-320309" lvl="1" marL="914400" rtl="0" algn="just">
              <a:lnSpc>
                <a:spcPct val="115000"/>
              </a:lnSpc>
              <a:spcBef>
                <a:spcPts val="37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ROUGE-L: Measures the longest common subsequence of words, reflecting sentence-level structure.</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25" name="Google Shape;325;p34"/>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26" name="Google Shape;326;p34"/>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5"/>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Experimental Setup</a:t>
            </a:r>
            <a:endParaRPr/>
          </a:p>
        </p:txBody>
      </p:sp>
      <p:sp>
        <p:nvSpPr>
          <p:cNvPr id="333" name="Google Shape;333;p3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34" name="Google Shape;334;p35"/>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19445" lvl="0" marL="457200" rtl="0" algn="just">
              <a:lnSpc>
                <a:spcPct val="115000"/>
              </a:lnSpc>
              <a:spcBef>
                <a:spcPts val="580"/>
              </a:spcBef>
              <a:spcAft>
                <a:spcPts val="0"/>
              </a:spcAft>
              <a:buSzPts val="1431"/>
              <a:buFont typeface="Times New Roman"/>
              <a:buChar char="●"/>
            </a:pPr>
            <a:r>
              <a:rPr b="1" lang="en-US" sz="2444">
                <a:latin typeface="Times New Roman"/>
                <a:ea typeface="Times New Roman"/>
                <a:cs typeface="Times New Roman"/>
                <a:sym typeface="Times New Roman"/>
              </a:rPr>
              <a:t>Evaluation Metrics</a:t>
            </a:r>
            <a:endParaRPr b="1" sz="2444">
              <a:latin typeface="Times New Roman"/>
              <a:ea typeface="Times New Roman"/>
              <a:cs typeface="Times New Roman"/>
              <a:sym typeface="Times New Roman"/>
            </a:endParaRPr>
          </a:p>
          <a:p>
            <a:pPr indent="-319445" lvl="1" marL="914400" rtl="0" algn="just">
              <a:lnSpc>
                <a:spcPct val="115000"/>
              </a:lnSpc>
              <a:spcBef>
                <a:spcPts val="370"/>
              </a:spcBef>
              <a:spcAft>
                <a:spcPts val="0"/>
              </a:spcAft>
              <a:buClr>
                <a:schemeClr val="dk2"/>
              </a:buClr>
              <a:buSzPts val="1431"/>
              <a:buFont typeface="Times New Roman"/>
              <a:buChar char="●"/>
            </a:pPr>
            <a:r>
              <a:rPr lang="en-US" sz="2444" u="sng">
                <a:latin typeface="Times New Roman"/>
                <a:ea typeface="Times New Roman"/>
                <a:cs typeface="Times New Roman"/>
                <a:sym typeface="Times New Roman"/>
              </a:rPr>
              <a:t>BLEU</a:t>
            </a:r>
            <a:r>
              <a:rPr lang="en-US" sz="2444">
                <a:latin typeface="Times New Roman"/>
                <a:ea typeface="Times New Roman"/>
                <a:cs typeface="Times New Roman"/>
                <a:sym typeface="Times New Roman"/>
              </a:rPr>
              <a:t> (Bilingual Evaluation Understudy)</a:t>
            </a:r>
            <a:endParaRPr sz="2444">
              <a:latin typeface="Times New Roman"/>
              <a:ea typeface="Times New Roman"/>
              <a:cs typeface="Times New Roman"/>
              <a:sym typeface="Times New Roman"/>
            </a:endParaRPr>
          </a:p>
          <a:p>
            <a:pPr indent="-320309" lvl="1" marL="914400" rtl="0" algn="just">
              <a:lnSpc>
                <a:spcPct val="115000"/>
              </a:lnSpc>
              <a:spcBef>
                <a:spcPts val="37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Checks how many matching n-grams (phrases) exist between generated and reference summaries.</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u="sng">
                <a:latin typeface="Times New Roman"/>
                <a:ea typeface="Times New Roman"/>
                <a:cs typeface="Times New Roman"/>
                <a:sym typeface="Times New Roman"/>
              </a:rPr>
              <a:t>METEOR</a:t>
            </a:r>
            <a:r>
              <a:rPr lang="en-US" sz="2444">
                <a:latin typeface="Times New Roman"/>
                <a:ea typeface="Times New Roman"/>
                <a:cs typeface="Times New Roman"/>
                <a:sym typeface="Times New Roman"/>
              </a:rPr>
              <a:t> (Metric for Evaluation of Translation with Explicit ORdering)</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Considers synonym matching, word order, and stemming for better fluency evaluation.</a:t>
            </a:r>
            <a:endParaRPr sz="2444">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u="sng">
                <a:latin typeface="Times New Roman"/>
                <a:ea typeface="Times New Roman"/>
                <a:cs typeface="Times New Roman"/>
                <a:sym typeface="Times New Roman"/>
              </a:rPr>
              <a:t>BERTScore</a:t>
            </a:r>
            <a:endParaRPr sz="2444" u="sng">
              <a:latin typeface="Times New Roman"/>
              <a:ea typeface="Times New Roman"/>
              <a:cs typeface="Times New Roman"/>
              <a:sym typeface="Times New Roman"/>
            </a:endParaRPr>
          </a:p>
          <a:p>
            <a:pPr indent="-320309" lvl="1" marL="914400" rtl="0" algn="just">
              <a:lnSpc>
                <a:spcPct val="115000"/>
              </a:lnSpc>
              <a:spcBef>
                <a:spcPts val="0"/>
              </a:spcBef>
              <a:spcAft>
                <a:spcPts val="0"/>
              </a:spcAft>
              <a:buClr>
                <a:schemeClr val="dk2"/>
              </a:buClr>
              <a:buSzPts val="1444"/>
              <a:buFont typeface="Times New Roman"/>
              <a:buChar char="➢"/>
            </a:pPr>
            <a:r>
              <a:rPr lang="en-US" sz="2444">
                <a:latin typeface="Times New Roman"/>
                <a:ea typeface="Times New Roman"/>
                <a:cs typeface="Times New Roman"/>
                <a:sym typeface="Times New Roman"/>
              </a:rPr>
              <a:t>Uses contextual word embeddings to measure how semantically similar the summaries are.</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35" name="Google Shape;335;p35"/>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36" name="Google Shape;336;p35"/>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6"/>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343" name="Google Shape;343;p3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44" name="Google Shape;344;p36"/>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Fine-Tuned BART model evaluation results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45" name="Google Shape;345;p36"/>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46" name="Google Shape;346;p36"/>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347" name="Google Shape;347;p36"/>
          <p:cNvSpPr txBox="1"/>
          <p:nvPr/>
        </p:nvSpPr>
        <p:spPr>
          <a:xfrm>
            <a:off x="287250" y="6239700"/>
            <a:ext cx="66732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(3) ROUGE evaluations of fine-tuned BART model</a:t>
            </a:r>
            <a:endParaRPr i="1" sz="1800">
              <a:solidFill>
                <a:schemeClr val="dk1"/>
              </a:solidFill>
              <a:latin typeface="Times New Roman"/>
              <a:ea typeface="Times New Roman"/>
              <a:cs typeface="Times New Roman"/>
              <a:sym typeface="Times New Roman"/>
            </a:endParaRPr>
          </a:p>
        </p:txBody>
      </p:sp>
      <p:pic>
        <p:nvPicPr>
          <p:cNvPr id="348" name="Google Shape;348;p36"/>
          <p:cNvPicPr preferRelativeResize="0"/>
          <p:nvPr/>
        </p:nvPicPr>
        <p:blipFill>
          <a:blip r:embed="rId4">
            <a:alphaModFix/>
          </a:blip>
          <a:stretch>
            <a:fillRect/>
          </a:stretch>
        </p:blipFill>
        <p:spPr>
          <a:xfrm>
            <a:off x="1333725" y="2155100"/>
            <a:ext cx="6476537" cy="4017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355" name="Google Shape;355;p3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56" name="Google Shape;356;p37"/>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Fine-Tuned BART model evaluation results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57" name="Google Shape;357;p37"/>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58" name="Google Shape;358;p37"/>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359" name="Google Shape;359;p37"/>
          <p:cNvSpPr txBox="1"/>
          <p:nvPr/>
        </p:nvSpPr>
        <p:spPr>
          <a:xfrm>
            <a:off x="1235400" y="5836500"/>
            <a:ext cx="66732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(4) BLEU &amp; METEOR evaluations of fine-tuned BART model</a:t>
            </a:r>
            <a:endParaRPr i="1" sz="1800">
              <a:solidFill>
                <a:schemeClr val="dk1"/>
              </a:solidFill>
              <a:latin typeface="Times New Roman"/>
              <a:ea typeface="Times New Roman"/>
              <a:cs typeface="Times New Roman"/>
              <a:sym typeface="Times New Roman"/>
            </a:endParaRPr>
          </a:p>
        </p:txBody>
      </p:sp>
      <p:pic>
        <p:nvPicPr>
          <p:cNvPr id="360" name="Google Shape;360;p37"/>
          <p:cNvPicPr preferRelativeResize="0"/>
          <p:nvPr/>
        </p:nvPicPr>
        <p:blipFill>
          <a:blip r:embed="rId4">
            <a:alphaModFix/>
          </a:blip>
          <a:stretch>
            <a:fillRect/>
          </a:stretch>
        </p:blipFill>
        <p:spPr>
          <a:xfrm>
            <a:off x="1762125" y="2121750"/>
            <a:ext cx="5619750" cy="3714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8"/>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367" name="Google Shape;367;p3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68" name="Google Shape;368;p38"/>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Fine-Tuned BART model evaluation results</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69" name="Google Shape;369;p38"/>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70" name="Google Shape;370;p38"/>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371" name="Google Shape;371;p38"/>
          <p:cNvSpPr txBox="1"/>
          <p:nvPr/>
        </p:nvSpPr>
        <p:spPr>
          <a:xfrm>
            <a:off x="287250" y="6239700"/>
            <a:ext cx="66732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(5) BERTScore evaluations of fine-tuned BART model</a:t>
            </a:r>
            <a:endParaRPr i="1" sz="1800">
              <a:solidFill>
                <a:schemeClr val="dk1"/>
              </a:solidFill>
              <a:latin typeface="Times New Roman"/>
              <a:ea typeface="Times New Roman"/>
              <a:cs typeface="Times New Roman"/>
              <a:sym typeface="Times New Roman"/>
            </a:endParaRPr>
          </a:p>
        </p:txBody>
      </p:sp>
      <p:pic>
        <p:nvPicPr>
          <p:cNvPr id="372" name="Google Shape;372;p38"/>
          <p:cNvPicPr preferRelativeResize="0"/>
          <p:nvPr/>
        </p:nvPicPr>
        <p:blipFill rotWithShape="1">
          <a:blip r:embed="rId4">
            <a:alphaModFix/>
          </a:blip>
          <a:srcRect b="3059" l="-3320" r="3320" t="-3060"/>
          <a:stretch/>
        </p:blipFill>
        <p:spPr>
          <a:xfrm>
            <a:off x="1172025" y="2117150"/>
            <a:ext cx="6537728" cy="4055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9"/>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379" name="Google Shape;379;p3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80" name="Google Shape;380;p39"/>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2"/>
            </a:pPr>
            <a:r>
              <a:rPr lang="en-US" sz="2444">
                <a:latin typeface="Times New Roman"/>
                <a:ea typeface="Times New Roman"/>
                <a:cs typeface="Times New Roman"/>
                <a:sym typeface="Times New Roman"/>
              </a:rPr>
              <a:t>Case Analysis</a:t>
            </a:r>
            <a:endParaRPr sz="2444">
              <a:latin typeface="Times New Roman"/>
              <a:ea typeface="Times New Roman"/>
              <a:cs typeface="Times New Roman"/>
              <a:sym typeface="Times New Roman"/>
            </a:endParaRPr>
          </a:p>
          <a:p>
            <a:pPr indent="0" lvl="0" marL="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81" name="Google Shape;381;p39"/>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82" name="Google Shape;382;p39"/>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383" name="Google Shape;383;p39"/>
          <p:cNvSpPr txBox="1"/>
          <p:nvPr/>
        </p:nvSpPr>
        <p:spPr>
          <a:xfrm>
            <a:off x="640650" y="6239700"/>
            <a:ext cx="53055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(6) Document upload and summary option selection</a:t>
            </a:r>
            <a:endParaRPr i="1" sz="1800">
              <a:solidFill>
                <a:schemeClr val="dk1"/>
              </a:solidFill>
              <a:latin typeface="Times New Roman"/>
              <a:ea typeface="Times New Roman"/>
              <a:cs typeface="Times New Roman"/>
              <a:sym typeface="Times New Roman"/>
            </a:endParaRPr>
          </a:p>
        </p:txBody>
      </p:sp>
      <p:pic>
        <p:nvPicPr>
          <p:cNvPr id="384" name="Google Shape;384;p39"/>
          <p:cNvPicPr preferRelativeResize="0"/>
          <p:nvPr/>
        </p:nvPicPr>
        <p:blipFill>
          <a:blip r:embed="rId4">
            <a:alphaModFix/>
          </a:blip>
          <a:stretch>
            <a:fillRect/>
          </a:stretch>
        </p:blipFill>
        <p:spPr>
          <a:xfrm>
            <a:off x="727788" y="2137675"/>
            <a:ext cx="5218226" cy="4102025"/>
          </a:xfrm>
          <a:prstGeom prst="rect">
            <a:avLst/>
          </a:prstGeom>
          <a:noFill/>
          <a:ln>
            <a:noFill/>
          </a:ln>
        </p:spPr>
      </p:pic>
      <p:sp>
        <p:nvSpPr>
          <p:cNvPr id="385" name="Google Shape;385;p39"/>
          <p:cNvSpPr txBox="1"/>
          <p:nvPr/>
        </p:nvSpPr>
        <p:spPr>
          <a:xfrm>
            <a:off x="6259275" y="1779400"/>
            <a:ext cx="2418000" cy="41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44">
                <a:solidFill>
                  <a:schemeClr val="dk1"/>
                </a:solidFill>
                <a:latin typeface="Times New Roman"/>
                <a:ea typeface="Times New Roman"/>
                <a:cs typeface="Times New Roman"/>
                <a:sym typeface="Times New Roman"/>
              </a:rPr>
              <a:t>User uploads the legal document and gets the case details, as seen in ‘Extracted Details’ section,</a:t>
            </a:r>
            <a:endParaRPr sz="2444">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444">
                <a:solidFill>
                  <a:schemeClr val="dk1"/>
                </a:solidFill>
                <a:latin typeface="Times New Roman"/>
                <a:ea typeface="Times New Roman"/>
                <a:cs typeface="Times New Roman"/>
                <a:sym typeface="Times New Roman"/>
              </a:rPr>
              <a:t>followed by summary options selection</a:t>
            </a:r>
            <a:endParaRPr sz="2444">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0"/>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392" name="Google Shape;392;p4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393" name="Google Shape;393;p40"/>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2"/>
            </a:pPr>
            <a:r>
              <a:rPr lang="en-US" sz="2444">
                <a:latin typeface="Times New Roman"/>
                <a:ea typeface="Times New Roman"/>
                <a:cs typeface="Times New Roman"/>
                <a:sym typeface="Times New Roman"/>
              </a:rPr>
              <a:t>Case Analysis</a:t>
            </a:r>
            <a:endParaRPr sz="2444">
              <a:latin typeface="Times New Roman"/>
              <a:ea typeface="Times New Roman"/>
              <a:cs typeface="Times New Roman"/>
              <a:sym typeface="Times New Roman"/>
            </a:endParaRPr>
          </a:p>
          <a:p>
            <a:pPr indent="0" lvl="0" marL="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394" name="Google Shape;394;p40"/>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395" name="Google Shape;395;p40"/>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396" name="Google Shape;396;p40"/>
          <p:cNvSpPr txBox="1"/>
          <p:nvPr/>
        </p:nvSpPr>
        <p:spPr>
          <a:xfrm>
            <a:off x="640650" y="6239700"/>
            <a:ext cx="53055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(7) Generated Summary</a:t>
            </a:r>
            <a:endParaRPr i="1" sz="1800">
              <a:solidFill>
                <a:schemeClr val="dk1"/>
              </a:solidFill>
              <a:latin typeface="Times New Roman"/>
              <a:ea typeface="Times New Roman"/>
              <a:cs typeface="Times New Roman"/>
              <a:sym typeface="Times New Roman"/>
            </a:endParaRPr>
          </a:p>
        </p:txBody>
      </p:sp>
      <p:sp>
        <p:nvSpPr>
          <p:cNvPr id="397" name="Google Shape;397;p40"/>
          <p:cNvSpPr txBox="1"/>
          <p:nvPr/>
        </p:nvSpPr>
        <p:spPr>
          <a:xfrm>
            <a:off x="6259275" y="1779400"/>
            <a:ext cx="2418000" cy="41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44">
                <a:solidFill>
                  <a:schemeClr val="dk1"/>
                </a:solidFill>
                <a:latin typeface="Times New Roman"/>
                <a:ea typeface="Times New Roman"/>
                <a:cs typeface="Times New Roman"/>
                <a:sym typeface="Times New Roman"/>
              </a:rPr>
              <a:t>After selecting, desired summary options, user gets the summary by clicking on ‘Generate Summary’ button User can get detailed analysis by clicking ‘Analyze’</a:t>
            </a:r>
            <a:endParaRPr sz="2444">
              <a:solidFill>
                <a:schemeClr val="dk1"/>
              </a:solidFill>
              <a:latin typeface="Times New Roman"/>
              <a:ea typeface="Times New Roman"/>
              <a:cs typeface="Times New Roman"/>
              <a:sym typeface="Times New Roman"/>
            </a:endParaRPr>
          </a:p>
        </p:txBody>
      </p:sp>
      <p:pic>
        <p:nvPicPr>
          <p:cNvPr id="398" name="Google Shape;398;p40"/>
          <p:cNvPicPr preferRelativeResize="0"/>
          <p:nvPr/>
        </p:nvPicPr>
        <p:blipFill>
          <a:blip r:embed="rId4">
            <a:alphaModFix/>
          </a:blip>
          <a:stretch>
            <a:fillRect/>
          </a:stretch>
        </p:blipFill>
        <p:spPr>
          <a:xfrm>
            <a:off x="727925" y="2202700"/>
            <a:ext cx="5218225" cy="39694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1"/>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Output</a:t>
            </a:r>
            <a:endParaRPr/>
          </a:p>
        </p:txBody>
      </p:sp>
      <p:sp>
        <p:nvSpPr>
          <p:cNvPr id="405" name="Google Shape;405;p4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406" name="Google Shape;406;p41"/>
          <p:cNvSpPr txBox="1"/>
          <p:nvPr>
            <p:ph idx="1" type="body"/>
          </p:nvPr>
        </p:nvSpPr>
        <p:spPr>
          <a:xfrm>
            <a:off x="640650" y="1551900"/>
            <a:ext cx="7862700" cy="45195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startAt="2"/>
            </a:pPr>
            <a:r>
              <a:rPr lang="en-US" sz="2444">
                <a:latin typeface="Times New Roman"/>
                <a:ea typeface="Times New Roman"/>
                <a:cs typeface="Times New Roman"/>
                <a:sym typeface="Times New Roman"/>
              </a:rPr>
              <a:t>Case Analysis</a:t>
            </a:r>
            <a:endParaRPr sz="2444">
              <a:latin typeface="Times New Roman"/>
              <a:ea typeface="Times New Roman"/>
              <a:cs typeface="Times New Roman"/>
              <a:sym typeface="Times New Roman"/>
            </a:endParaRPr>
          </a:p>
          <a:p>
            <a:pPr indent="0" lvl="0" marL="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407" name="Google Shape;407;p41"/>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408" name="Google Shape;408;p41"/>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
        <p:nvSpPr>
          <p:cNvPr id="409" name="Google Shape;409;p41"/>
          <p:cNvSpPr txBox="1"/>
          <p:nvPr/>
        </p:nvSpPr>
        <p:spPr>
          <a:xfrm>
            <a:off x="640650" y="6239700"/>
            <a:ext cx="5305500" cy="39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800">
                <a:solidFill>
                  <a:schemeClr val="dk1"/>
                </a:solidFill>
                <a:latin typeface="Times New Roman"/>
                <a:ea typeface="Times New Roman"/>
                <a:cs typeface="Times New Roman"/>
                <a:sym typeface="Times New Roman"/>
              </a:rPr>
              <a:t>fig. (8) Case analysis of document</a:t>
            </a:r>
            <a:endParaRPr i="1" sz="1800">
              <a:solidFill>
                <a:schemeClr val="dk1"/>
              </a:solidFill>
              <a:latin typeface="Times New Roman"/>
              <a:ea typeface="Times New Roman"/>
              <a:cs typeface="Times New Roman"/>
              <a:sym typeface="Times New Roman"/>
            </a:endParaRPr>
          </a:p>
        </p:txBody>
      </p:sp>
      <p:sp>
        <p:nvSpPr>
          <p:cNvPr id="410" name="Google Shape;410;p41"/>
          <p:cNvSpPr txBox="1"/>
          <p:nvPr/>
        </p:nvSpPr>
        <p:spPr>
          <a:xfrm>
            <a:off x="6259275" y="1779400"/>
            <a:ext cx="2418000" cy="41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44">
                <a:solidFill>
                  <a:schemeClr val="dk1"/>
                </a:solidFill>
                <a:latin typeface="Times New Roman"/>
                <a:ea typeface="Times New Roman"/>
                <a:cs typeface="Times New Roman"/>
                <a:sym typeface="Times New Roman"/>
              </a:rPr>
              <a:t>User gets detailed analysis of the case, like background, evidences, judgment, case outcome, etc.</a:t>
            </a:r>
            <a:endParaRPr sz="2444">
              <a:solidFill>
                <a:schemeClr val="dk1"/>
              </a:solidFill>
              <a:latin typeface="Times New Roman"/>
              <a:ea typeface="Times New Roman"/>
              <a:cs typeface="Times New Roman"/>
              <a:sym typeface="Times New Roman"/>
            </a:endParaRPr>
          </a:p>
        </p:txBody>
      </p:sp>
      <p:pic>
        <p:nvPicPr>
          <p:cNvPr id="411" name="Google Shape;411;p41"/>
          <p:cNvPicPr preferRelativeResize="0"/>
          <p:nvPr/>
        </p:nvPicPr>
        <p:blipFill>
          <a:blip r:embed="rId4">
            <a:alphaModFix/>
          </a:blip>
          <a:stretch>
            <a:fillRect/>
          </a:stretch>
        </p:blipFill>
        <p:spPr>
          <a:xfrm>
            <a:off x="640650" y="2150375"/>
            <a:ext cx="5305499" cy="40774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2"/>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Conclusion</a:t>
            </a:r>
            <a:endParaRPr/>
          </a:p>
        </p:txBody>
      </p:sp>
      <p:sp>
        <p:nvSpPr>
          <p:cNvPr id="418" name="Google Shape;418;p4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419" name="Google Shape;419;p42"/>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580"/>
              </a:spcBef>
              <a:spcAft>
                <a:spcPts val="0"/>
              </a:spcAft>
              <a:buNone/>
            </a:pPr>
            <a:r>
              <a:rPr lang="en-US" sz="2444">
                <a:latin typeface="Times New Roman"/>
                <a:ea typeface="Times New Roman"/>
                <a:cs typeface="Times New Roman"/>
                <a:sym typeface="Times New Roman"/>
              </a:rPr>
              <a:t>The project developed an efficient system for legal document summarization and analysis under the Bharatiya Nyaya Sanhita (BNS) framework. By fine-tuning InLegalBERT and BART models, the system ensures accurate section mapping, case analysis, and outcome prediction. It helps legal professionals transition smoothly from IPC to BNS and lays the foundation for future advancements in legal technology.</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420" name="Google Shape;420;p42"/>
          <p:cNvPicPr preferRelativeResize="0"/>
          <p:nvPr/>
        </p:nvPicPr>
        <p:blipFill rotWithShape="1">
          <a:blip r:embed="rId3">
            <a:alphaModFix/>
          </a:blip>
          <a:srcRect b="0" l="0" r="0" t="0"/>
          <a:stretch/>
        </p:blipFill>
        <p:spPr>
          <a:xfrm>
            <a:off x="8305800" y="6172200"/>
            <a:ext cx="533400" cy="524282"/>
          </a:xfrm>
          <a:prstGeom prst="rect">
            <a:avLst/>
          </a:prstGeom>
          <a:noFill/>
          <a:ln>
            <a:noFill/>
          </a:ln>
        </p:spPr>
      </p:pic>
      <p:sp>
        <p:nvSpPr>
          <p:cNvPr id="421" name="Google Shape;421;p42"/>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3"/>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References</a:t>
            </a:r>
            <a:endParaRPr/>
          </a:p>
        </p:txBody>
      </p:sp>
      <p:sp>
        <p:nvSpPr>
          <p:cNvPr id="428" name="Google Shape;428;p4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429" name="Google Shape;429;p43"/>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44845" lvl="0" marL="457200" rtl="0" algn="just">
              <a:lnSpc>
                <a:spcPct val="115000"/>
              </a:lnSpc>
              <a:spcBef>
                <a:spcPts val="580"/>
              </a:spcBef>
              <a:spcAft>
                <a:spcPts val="0"/>
              </a:spcAft>
              <a:buSzPts val="1831"/>
              <a:buFont typeface="Times New Roman"/>
              <a:buAutoNum type="arabicPeriod"/>
            </a:pPr>
            <a:r>
              <a:rPr lang="en-US" sz="2444">
                <a:latin typeface="Times New Roman"/>
                <a:ea typeface="Times New Roman"/>
                <a:cs typeface="Times New Roman"/>
                <a:sym typeface="Times New Roman"/>
              </a:rPr>
              <a:t>Paul, S. et al. (2023) “Pre-trained language models for the le-gal domain: A case study on indian law”, Available at: </a:t>
            </a:r>
            <a:r>
              <a:rPr lang="en-US" sz="2444" u="sng">
                <a:solidFill>
                  <a:schemeClr val="hlink"/>
                </a:solidFill>
                <a:latin typeface="Times New Roman"/>
                <a:ea typeface="Times New Roman"/>
                <a:cs typeface="Times New Roman"/>
                <a:sym typeface="Times New Roman"/>
                <a:hlinkClick r:id="rId3"/>
              </a:rPr>
              <a:t>https://arxiv.org/abs/2209.06049</a:t>
            </a:r>
            <a:r>
              <a:rPr lang="en-US" sz="2444">
                <a:latin typeface="Times New Roman"/>
                <a:ea typeface="Times New Roman"/>
                <a:cs typeface="Times New Roman"/>
                <a:sym typeface="Times New Roman"/>
              </a:rPr>
              <a:t>.</a:t>
            </a:r>
            <a:endParaRPr sz="2444">
              <a:latin typeface="Times New Roman"/>
              <a:ea typeface="Times New Roman"/>
              <a:cs typeface="Times New Roman"/>
              <a:sym typeface="Times New Roman"/>
            </a:endParaRPr>
          </a:p>
          <a:p>
            <a:pPr indent="-345709" lvl="0" marL="457200" rtl="0" algn="just">
              <a:lnSpc>
                <a:spcPct val="115000"/>
              </a:lnSpc>
              <a:spcBef>
                <a:spcPts val="580"/>
              </a:spcBef>
              <a:spcAft>
                <a:spcPts val="0"/>
              </a:spcAft>
              <a:buSzPts val="1844"/>
              <a:buFont typeface="Times New Roman"/>
              <a:buAutoNum type="arabicPeriod"/>
            </a:pPr>
            <a:r>
              <a:rPr lang="en-US" sz="2444">
                <a:latin typeface="Times New Roman"/>
                <a:ea typeface="Times New Roman"/>
                <a:cs typeface="Times New Roman"/>
                <a:sym typeface="Times New Roman"/>
              </a:rPr>
              <a:t>S. Sharma, S. Srivastava, P. Verma, A. Verma, and Sachchida Nand Chaurasia (2023) “A Comprehensive Analysis of Indian Legal Documents Summarization Technique,” </a:t>
            </a:r>
            <a:r>
              <a:rPr lang="en-US" sz="2444" u="sng">
                <a:solidFill>
                  <a:schemeClr val="hlink"/>
                </a:solidFill>
                <a:latin typeface="Times New Roman"/>
                <a:ea typeface="Times New Roman"/>
                <a:cs typeface="Times New Roman"/>
                <a:sym typeface="Times New Roman"/>
                <a:hlinkClick r:id="rId4"/>
              </a:rPr>
              <a:t>https://doi.org/10.1007/s42979-023-01983-y</a:t>
            </a:r>
            <a:endParaRPr sz="2444">
              <a:latin typeface="Times New Roman"/>
              <a:ea typeface="Times New Roman"/>
              <a:cs typeface="Times New Roman"/>
              <a:sym typeface="Times New Roman"/>
            </a:endParaRPr>
          </a:p>
          <a:p>
            <a:pPr indent="-345709" lvl="0" marL="457200" rtl="0" algn="just">
              <a:lnSpc>
                <a:spcPct val="115000"/>
              </a:lnSpc>
              <a:spcBef>
                <a:spcPts val="580"/>
              </a:spcBef>
              <a:spcAft>
                <a:spcPts val="0"/>
              </a:spcAft>
              <a:buSzPts val="1844"/>
              <a:buFont typeface="Times New Roman"/>
              <a:buAutoNum type="arabicPeriod"/>
            </a:pPr>
            <a:r>
              <a:rPr lang="en-US" sz="2444">
                <a:latin typeface="Times New Roman"/>
                <a:ea typeface="Times New Roman"/>
                <a:cs typeface="Times New Roman"/>
                <a:sym typeface="Times New Roman"/>
              </a:rPr>
              <a:t>Rani, U. and Bidhan, K. (2021a) “Comparative assessment of extractive summarization: TextRank, TF-IDF and LDA”, Journal of scientific research, doi:10.37398/jsr.2021.650140.</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430" name="Google Shape;430;p43"/>
          <p:cNvPicPr preferRelativeResize="0"/>
          <p:nvPr/>
        </p:nvPicPr>
        <p:blipFill rotWithShape="1">
          <a:blip r:embed="rId5">
            <a:alphaModFix/>
          </a:blip>
          <a:srcRect b="0" l="0" r="0" t="0"/>
          <a:stretch/>
        </p:blipFill>
        <p:spPr>
          <a:xfrm>
            <a:off x="8305800" y="6172200"/>
            <a:ext cx="533400" cy="524282"/>
          </a:xfrm>
          <a:prstGeom prst="rect">
            <a:avLst/>
          </a:prstGeom>
          <a:noFill/>
          <a:ln>
            <a:noFill/>
          </a:ln>
        </p:spPr>
      </p:pic>
      <p:sp>
        <p:nvSpPr>
          <p:cNvPr id="431" name="Google Shape;431;p43"/>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txBox="1"/>
          <p:nvPr>
            <p:ph type="title"/>
          </p:nvPr>
        </p:nvSpPr>
        <p:spPr>
          <a:xfrm>
            <a:off x="146300" y="228625"/>
            <a:ext cx="8871900" cy="893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US"/>
              <a:t>References</a:t>
            </a:r>
            <a:endParaRPr/>
          </a:p>
        </p:txBody>
      </p:sp>
      <p:sp>
        <p:nvSpPr>
          <p:cNvPr id="438" name="Google Shape;438;p4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439" name="Google Shape;439;p44"/>
          <p:cNvSpPr txBox="1"/>
          <p:nvPr>
            <p:ph idx="1" type="body"/>
          </p:nvPr>
        </p:nvSpPr>
        <p:spPr>
          <a:xfrm>
            <a:off x="640650" y="1551900"/>
            <a:ext cx="7862700" cy="4197600"/>
          </a:xfrm>
          <a:prstGeom prst="rect">
            <a:avLst/>
          </a:prstGeom>
          <a:noFill/>
          <a:ln>
            <a:noFill/>
          </a:ln>
        </p:spPr>
        <p:txBody>
          <a:bodyPr anchorCtr="0" anchor="t" bIns="45700" lIns="91425" spcFirstLastPara="1" rIns="91425" wrap="square" tIns="45700">
            <a:noAutofit/>
          </a:bodyPr>
          <a:lstStyle/>
          <a:p>
            <a:pPr indent="-345709" lvl="0" marL="457200" rtl="0" algn="just">
              <a:lnSpc>
                <a:spcPct val="115000"/>
              </a:lnSpc>
              <a:spcBef>
                <a:spcPts val="580"/>
              </a:spcBef>
              <a:spcAft>
                <a:spcPts val="0"/>
              </a:spcAft>
              <a:buSzPts val="1844"/>
              <a:buFont typeface="Times New Roman"/>
              <a:buAutoNum type="arabicPeriod" startAt="4"/>
            </a:pPr>
            <a:r>
              <a:rPr lang="en-US" sz="2444" u="sng">
                <a:solidFill>
                  <a:schemeClr val="hlink"/>
                </a:solidFill>
                <a:latin typeface="Times New Roman"/>
                <a:ea typeface="Times New Roman"/>
                <a:cs typeface="Times New Roman"/>
                <a:sym typeface="Times New Roman"/>
                <a:hlinkClick r:id="rId3"/>
              </a:rPr>
              <a:t>https://huggingface.co/law-ai/InLegalBERT</a:t>
            </a:r>
            <a:endParaRPr sz="2444">
              <a:latin typeface="Times New Roman"/>
              <a:ea typeface="Times New Roman"/>
              <a:cs typeface="Times New Roman"/>
              <a:sym typeface="Times New Roman"/>
            </a:endParaRPr>
          </a:p>
          <a:p>
            <a:pPr indent="-345709" lvl="0" marL="457200" rtl="0" algn="just">
              <a:lnSpc>
                <a:spcPct val="115000"/>
              </a:lnSpc>
              <a:spcBef>
                <a:spcPts val="580"/>
              </a:spcBef>
              <a:spcAft>
                <a:spcPts val="0"/>
              </a:spcAft>
              <a:buSzPts val="1844"/>
              <a:buFont typeface="Times New Roman"/>
              <a:buAutoNum type="arabicPeriod" startAt="4"/>
            </a:pPr>
            <a:r>
              <a:rPr lang="en-US" sz="2444" u="sng">
                <a:solidFill>
                  <a:schemeClr val="hlink"/>
                </a:solidFill>
                <a:latin typeface="Times New Roman"/>
                <a:ea typeface="Times New Roman"/>
                <a:cs typeface="Times New Roman"/>
                <a:sym typeface="Times New Roman"/>
                <a:hlinkClick r:id="rId4"/>
              </a:rPr>
              <a:t>https://huggingface.co/facebook/bart-large</a:t>
            </a:r>
            <a:endParaRPr sz="2444">
              <a:latin typeface="Times New Roman"/>
              <a:ea typeface="Times New Roman"/>
              <a:cs typeface="Times New Roman"/>
              <a:sym typeface="Times New Roman"/>
            </a:endParaRPr>
          </a:p>
          <a:p>
            <a:pPr indent="-345709" lvl="0" marL="457200" rtl="0" algn="just">
              <a:lnSpc>
                <a:spcPct val="115000"/>
              </a:lnSpc>
              <a:spcBef>
                <a:spcPts val="580"/>
              </a:spcBef>
              <a:spcAft>
                <a:spcPts val="0"/>
              </a:spcAft>
              <a:buSzPts val="1844"/>
              <a:buFont typeface="Times New Roman"/>
              <a:buAutoNum type="arabicPeriod" startAt="4"/>
            </a:pPr>
            <a:r>
              <a:rPr lang="en-US" sz="2444" u="sng">
                <a:solidFill>
                  <a:schemeClr val="hlink"/>
                </a:solidFill>
                <a:latin typeface="Times New Roman"/>
                <a:ea typeface="Times New Roman"/>
                <a:cs typeface="Times New Roman"/>
                <a:sym typeface="Times New Roman"/>
                <a:hlinkClick r:id="rId5"/>
              </a:rPr>
              <a:t>https://huggingface.co/datasets/Exploration-Lab/IL-TUR</a:t>
            </a:r>
            <a:endParaRPr sz="2444">
              <a:latin typeface="Times New Roman"/>
              <a:ea typeface="Times New Roman"/>
              <a:cs typeface="Times New Roman"/>
              <a:sym typeface="Times New Roman"/>
            </a:endParaRPr>
          </a:p>
          <a:p>
            <a:pPr indent="-345709" lvl="0" marL="457200" rtl="0" algn="just">
              <a:lnSpc>
                <a:spcPct val="115000"/>
              </a:lnSpc>
              <a:spcBef>
                <a:spcPts val="580"/>
              </a:spcBef>
              <a:spcAft>
                <a:spcPts val="0"/>
              </a:spcAft>
              <a:buSzPts val="1844"/>
              <a:buFont typeface="Times New Roman"/>
              <a:buAutoNum type="arabicPeriod" startAt="4"/>
            </a:pPr>
            <a:r>
              <a:rPr lang="en-US" sz="2444" u="sng">
                <a:solidFill>
                  <a:schemeClr val="hlink"/>
                </a:solidFill>
                <a:latin typeface="Times New Roman"/>
                <a:ea typeface="Times New Roman"/>
                <a:cs typeface="Times New Roman"/>
                <a:sym typeface="Times New Roman"/>
                <a:hlinkClick r:id="rId6"/>
              </a:rPr>
              <a:t>https://cookbook.openai.com/examples/evaluation/how_to_eval_abstractive_summarization?ref=blog.mozilla.ai</a:t>
            </a:r>
            <a:endParaRPr sz="2444">
              <a:latin typeface="Times New Roman"/>
              <a:ea typeface="Times New Roman"/>
              <a:cs typeface="Times New Roman"/>
              <a:sym typeface="Times New Roman"/>
            </a:endParaRPr>
          </a:p>
          <a:p>
            <a:pPr indent="0" lvl="0" marL="0" rtl="0" algn="just">
              <a:lnSpc>
                <a:spcPct val="115000"/>
              </a:lnSpc>
              <a:spcBef>
                <a:spcPts val="580"/>
              </a:spcBef>
              <a:spcAft>
                <a:spcPts val="0"/>
              </a:spcAft>
              <a:buNone/>
            </a:pPr>
            <a:r>
              <a:t/>
            </a:r>
            <a:endParaRPr sz="2444">
              <a:latin typeface="Times New Roman"/>
              <a:ea typeface="Times New Roman"/>
              <a:cs typeface="Times New Roman"/>
              <a:sym typeface="Times New Roman"/>
            </a:endParaRPr>
          </a:p>
          <a:p>
            <a:pPr indent="0" lvl="0" marL="457200" rtl="0" algn="just">
              <a:lnSpc>
                <a:spcPct val="95000"/>
              </a:lnSpc>
              <a:spcBef>
                <a:spcPts val="580"/>
              </a:spcBef>
              <a:spcAft>
                <a:spcPts val="0"/>
              </a:spcAft>
              <a:buNone/>
            </a:pPr>
            <a:r>
              <a:t/>
            </a:r>
            <a:endParaRPr sz="2444">
              <a:latin typeface="Times New Roman"/>
              <a:ea typeface="Times New Roman"/>
              <a:cs typeface="Times New Roman"/>
              <a:sym typeface="Times New Roman"/>
            </a:endParaRPr>
          </a:p>
        </p:txBody>
      </p:sp>
      <p:pic>
        <p:nvPicPr>
          <p:cNvPr id="440" name="Google Shape;440;p44"/>
          <p:cNvPicPr preferRelativeResize="0"/>
          <p:nvPr/>
        </p:nvPicPr>
        <p:blipFill rotWithShape="1">
          <a:blip r:embed="rId7">
            <a:alphaModFix/>
          </a:blip>
          <a:srcRect b="0" l="0" r="0" t="0"/>
          <a:stretch/>
        </p:blipFill>
        <p:spPr>
          <a:xfrm>
            <a:off x="8305800" y="6172200"/>
            <a:ext cx="533400" cy="524282"/>
          </a:xfrm>
          <a:prstGeom prst="rect">
            <a:avLst/>
          </a:prstGeom>
          <a:noFill/>
          <a:ln>
            <a:noFill/>
          </a:ln>
        </p:spPr>
      </p:pic>
      <p:sp>
        <p:nvSpPr>
          <p:cNvPr id="441" name="Google Shape;441;p44"/>
          <p:cNvSpPr txBox="1"/>
          <p:nvPr>
            <p:ph idx="10" type="dt"/>
          </p:nvPr>
        </p:nvSpPr>
        <p:spPr>
          <a:xfrm>
            <a:off x="5647875" y="620070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solidFill>
                  <a:srgbClr val="1F497D"/>
                </a:solidFill>
              </a:rPr>
              <a:t>30/04/2025</a:t>
            </a:r>
            <a:endParaRPr>
              <a:solidFill>
                <a:srgbClr val="1F497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